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1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487679" y="28982"/>
            <a:ext cx="2116759" cy="2410916"/>
          </a:xfrm>
          <a:prstGeom prst="roundRect">
            <a:avLst/>
          </a:prstGeom>
          <a:solidFill>
            <a:srgbClr val="EEF2FF"/>
          </a:solidFill>
          <a:ln w="12700">
            <a:solidFill>
              <a:srgbClr val="E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548640" y="2651760"/>
            <a:ext cx="6217920" cy="2410916"/>
          </a:xfrm>
          <a:prstGeom prst="rect">
            <a:avLst/>
          </a:prstGeom>
          <a:noFill/>
        </p:spPr>
        <p:txBody>
          <a:bodyPr wrap="square" lIns="0" tIns="0" rIns="0" bIns="0">
            <a:spAutoFit/>
          </a:bodyPr>
          <a:lstStyle/>
          <a:p>
            <a:pPr>
              <a:spcBef>
                <a:spcPts val="800"/>
              </a:spcBef>
              <a:spcAft>
                <a:spcPts val="1200"/>
              </a:spcAft>
              <a:defRPr sz="4800" b="1">
                <a:solidFill>
                  <a:srgbClr val="0F172A"/>
                </a:solidFill>
                <a:latin typeface="Poppins"/>
              </a:defRPr>
            </a:pPr>
            <a:r>
              <a:rPr dirty="0"/>
              <a:t>Smart Productivity</a:t>
            </a:r>
            <a:br>
              <a:rPr dirty="0"/>
            </a:br>
            <a:r>
              <a:rPr dirty="0"/>
              <a:t>Assistant</a:t>
            </a:r>
          </a:p>
          <a:p>
            <a:pPr>
              <a:defRPr sz="2000">
                <a:solidFill>
                  <a:srgbClr val="475569"/>
                </a:solidFill>
                <a:latin typeface="Inter"/>
              </a:defRPr>
            </a:pPr>
            <a:r>
              <a:rPr dirty="0"/>
              <a:t>AI-Powered Productivity Management System</a:t>
            </a:r>
          </a:p>
          <a:p>
            <a:pPr>
              <a:spcBef>
                <a:spcPts val="2000"/>
              </a:spcBef>
              <a:defRPr sz="1400" b="1">
                <a:solidFill>
                  <a:srgbClr val="4F46E5"/>
                </a:solidFill>
                <a:latin typeface="Inter"/>
              </a:defRPr>
            </a:pPr>
            <a:r>
              <a:rPr dirty="0"/>
              <a:t>Presented by: Pooja Nair</a:t>
            </a:r>
            <a:r>
              <a:rPr lang="en-IN" dirty="0"/>
              <a:t> R V</a:t>
            </a:r>
            <a:endParaRPr dirty="0"/>
          </a:p>
        </p:txBody>
      </p:sp>
      <p:sp>
        <p:nvSpPr>
          <p:cNvPr id="15" name="Rounded Rectangle 14"/>
          <p:cNvSpPr/>
          <p:nvPr/>
        </p:nvSpPr>
        <p:spPr>
          <a:xfrm>
            <a:off x="7543800" y="5303520"/>
            <a:ext cx="128016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5340096"/>
            <a:ext cx="1280160" cy="256032"/>
          </a:xfrm>
          <a:prstGeom prst="rect">
            <a:avLst/>
          </a:prstGeom>
          <a:noFill/>
        </p:spPr>
        <p:txBody>
          <a:bodyPr wrap="none" lIns="0" tIns="0" rIns="0" bIns="0">
            <a:spAutoFit/>
          </a:bodyPr>
          <a:lstStyle/>
          <a:p>
            <a:pPr algn="ctr">
              <a:defRPr sz="1000" b="1">
                <a:solidFill>
                  <a:srgbClr val="4338CA"/>
                </a:solidFill>
                <a:latin typeface="Inter"/>
              </a:defRPr>
            </a:pPr>
            <a:r>
              <a:t>Gemini AI</a:t>
            </a:r>
          </a:p>
        </p:txBody>
      </p:sp>
      <p:sp>
        <p:nvSpPr>
          <p:cNvPr id="17" name="Rounded Rectangle 16"/>
          <p:cNvSpPr/>
          <p:nvPr/>
        </p:nvSpPr>
        <p:spPr>
          <a:xfrm>
            <a:off x="8961120" y="5303520"/>
            <a:ext cx="100584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0" y="5340096"/>
            <a:ext cx="1005840" cy="256032"/>
          </a:xfrm>
          <a:prstGeom prst="rect">
            <a:avLst/>
          </a:prstGeom>
          <a:noFill/>
        </p:spPr>
        <p:txBody>
          <a:bodyPr wrap="none" lIns="0" tIns="0" rIns="0" bIns="0">
            <a:spAutoFit/>
          </a:bodyPr>
          <a:lstStyle/>
          <a:p>
            <a:pPr algn="ctr">
              <a:defRPr sz="1000" b="1">
                <a:solidFill>
                  <a:srgbClr val="4338CA"/>
                </a:solidFill>
                <a:latin typeface="Inter"/>
              </a:defRPr>
            </a:pPr>
            <a:r>
              <a:t>Vercel</a:t>
            </a:r>
          </a:p>
        </p:txBody>
      </p:sp>
      <p:sp>
        <p:nvSpPr>
          <p:cNvPr id="19" name="Rounded Rectangle 18"/>
          <p:cNvSpPr/>
          <p:nvPr/>
        </p:nvSpPr>
        <p:spPr>
          <a:xfrm>
            <a:off x="7132320" y="10972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132320" y="1097280"/>
            <a:ext cx="4297680" cy="3474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269480" y="1207008"/>
            <a:ext cx="109728" cy="109728"/>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52360" y="1207008"/>
            <a:ext cx="109728" cy="10972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635240" y="1207008"/>
            <a:ext cx="109728" cy="109728"/>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138160" y="1170432"/>
            <a:ext cx="2286000" cy="2011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15803" y="1188720"/>
            <a:ext cx="2130711" cy="215444"/>
          </a:xfrm>
          <a:prstGeom prst="rect">
            <a:avLst/>
          </a:prstGeom>
          <a:noFill/>
        </p:spPr>
        <p:txBody>
          <a:bodyPr wrap="none">
            <a:spAutoFit/>
          </a:bodyPr>
          <a:lstStyle/>
          <a:p>
            <a:pPr algn="ctr">
              <a:defRPr sz="800">
                <a:solidFill>
                  <a:srgbClr val="94A3B8"/>
                </a:solidFill>
                <a:latin typeface="Inter"/>
              </a:defRPr>
            </a:pPr>
            <a:r>
              <a:rPr lang="en-IN" dirty="0"/>
              <a:t>smart-productivity-assistant-</a:t>
            </a:r>
            <a:r>
              <a:rPr lang="en-IN" dirty="0" err="1"/>
              <a:t>pooja.vercel.app</a:t>
            </a:r>
            <a:endParaRPr dirty="0"/>
          </a:p>
        </p:txBody>
      </p:sp>
      <p:sp>
        <p:nvSpPr>
          <p:cNvPr id="27" name="Rounded Rectangle 26"/>
          <p:cNvSpPr/>
          <p:nvPr/>
        </p:nvSpPr>
        <p:spPr>
          <a:xfrm>
            <a:off x="7406640" y="1828800"/>
            <a:ext cx="3291840" cy="8229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71232" y="1993392"/>
            <a:ext cx="2962656" cy="493776"/>
          </a:xfrm>
          <a:prstGeom prst="rect">
            <a:avLst/>
          </a:prstGeom>
          <a:noFill/>
        </p:spPr>
        <p:txBody>
          <a:bodyPr wrap="square" lIns="0" tIns="0" rIns="0" bIns="0">
            <a:spAutoFit/>
          </a:bodyPr>
          <a:lstStyle/>
          <a:p>
            <a:pPr>
              <a:defRPr sz="1000" b="1">
                <a:solidFill>
                  <a:srgbClr val="0F172A"/>
                </a:solidFill>
                <a:latin typeface="Poppins"/>
              </a:defRPr>
            </a:pPr>
            <a:r>
              <a:rPr dirty="0"/>
              <a:t>User</a:t>
            </a:r>
          </a:p>
          <a:p>
            <a:pPr>
              <a:spcBef>
                <a:spcPts val="600"/>
              </a:spcBef>
              <a:defRPr sz="900">
                <a:solidFill>
                  <a:srgbClr val="475569"/>
                </a:solidFill>
                <a:latin typeface="Inter"/>
              </a:defRPr>
            </a:pPr>
            <a:r>
              <a:rPr dirty="0"/>
              <a:t>Create a daily task summary &amp; prioritize high importance tasks.</a:t>
            </a:r>
          </a:p>
        </p:txBody>
      </p:sp>
      <p:sp>
        <p:nvSpPr>
          <p:cNvPr id="29" name="Rounded Rectangle 28"/>
          <p:cNvSpPr/>
          <p:nvPr/>
        </p:nvSpPr>
        <p:spPr>
          <a:xfrm>
            <a:off x="7863840" y="2788920"/>
            <a:ext cx="3291840" cy="1280160"/>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28432" y="2953512"/>
            <a:ext cx="2962656" cy="950976"/>
          </a:xfrm>
          <a:prstGeom prst="rect">
            <a:avLst/>
          </a:prstGeom>
          <a:noFill/>
        </p:spPr>
        <p:txBody>
          <a:bodyPr wrap="square" lIns="0" tIns="0" rIns="0" bIns="0">
            <a:spAutoFit/>
          </a:bodyPr>
          <a:lstStyle/>
          <a:p>
            <a:pPr>
              <a:defRPr sz="1000" b="1">
                <a:solidFill>
                  <a:srgbClr val="0F172A"/>
                </a:solidFill>
                <a:latin typeface="Poppins"/>
              </a:defRPr>
            </a:pPr>
            <a:r>
              <a:t>Gemini Assistant</a:t>
            </a:r>
          </a:p>
          <a:p>
            <a:pPr>
              <a:spcBef>
                <a:spcPts val="600"/>
              </a:spcBef>
              <a:defRPr sz="900">
                <a:solidFill>
                  <a:srgbClr val="475569"/>
                </a:solidFill>
                <a:latin typeface="Inter"/>
              </a:defRPr>
            </a:pPr>
            <a:r>
              <a:t>Sure! I've loaded your schedule. You have 3 high priority tasks. Would you like me to draft your email reply for the database setup?</a:t>
            </a:r>
          </a:p>
        </p:txBody>
      </p:sp>
      <p:sp>
        <p:nvSpPr>
          <p:cNvPr id="31" name="Rounded Rectangle 30"/>
          <p:cNvSpPr/>
          <p:nvPr/>
        </p:nvSpPr>
        <p:spPr>
          <a:xfrm>
            <a:off x="7406640" y="4206240"/>
            <a:ext cx="3749039" cy="1371600"/>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71232" y="4370832"/>
            <a:ext cx="3419855" cy="1354217"/>
          </a:xfrm>
          <a:prstGeom prst="rect">
            <a:avLst/>
          </a:prstGeom>
          <a:noFill/>
        </p:spPr>
        <p:txBody>
          <a:bodyPr wrap="square" lIns="0" tIns="0" rIns="0" bIns="0">
            <a:spAutoFit/>
          </a:bodyPr>
          <a:lstStyle/>
          <a:p>
            <a:pPr>
              <a:defRPr sz="1100" b="1">
                <a:solidFill>
                  <a:srgbClr val="0F172A"/>
                </a:solidFill>
                <a:latin typeface="Poppins"/>
              </a:defRPr>
            </a:pPr>
            <a:r>
              <a:rPr dirty="0"/>
              <a:t>Daily F</a:t>
            </a:r>
            <a:endParaRPr lang="en-IN" dirty="0"/>
          </a:p>
          <a:p>
            <a:pPr>
              <a:defRPr sz="1100" b="1">
                <a:solidFill>
                  <a:srgbClr val="0F172A"/>
                </a:solidFill>
                <a:latin typeface="Poppins"/>
              </a:defRPr>
            </a:pPr>
            <a:endParaRPr lang="en-IN" dirty="0"/>
          </a:p>
          <a:p>
            <a:pPr>
              <a:defRPr sz="1100" b="1">
                <a:solidFill>
                  <a:srgbClr val="0F172A"/>
                </a:solidFill>
                <a:latin typeface="Poppins"/>
              </a:defRPr>
            </a:pPr>
            <a:endParaRPr lang="en-IN" dirty="0"/>
          </a:p>
          <a:p>
            <a:pPr>
              <a:defRPr sz="1100" b="1">
                <a:solidFill>
                  <a:srgbClr val="0F172A"/>
                </a:solidFill>
                <a:latin typeface="Poppins"/>
              </a:defRPr>
            </a:pPr>
            <a:endParaRPr lang="en-IN" dirty="0"/>
          </a:p>
          <a:p>
            <a:pPr>
              <a:defRPr sz="1100" b="1">
                <a:solidFill>
                  <a:srgbClr val="0F172A"/>
                </a:solidFill>
                <a:latin typeface="Poppins"/>
              </a:defRPr>
            </a:pPr>
            <a:endParaRPr lang="en-IN" dirty="0"/>
          </a:p>
          <a:p>
            <a:pPr>
              <a:defRPr sz="1100" b="1">
                <a:solidFill>
                  <a:srgbClr val="0F172A"/>
                </a:solidFill>
                <a:latin typeface="Poppins"/>
              </a:defRPr>
            </a:pPr>
            <a:endParaRPr lang="en-IN" dirty="0"/>
          </a:p>
          <a:p>
            <a:pPr>
              <a:defRPr sz="1100" b="1">
                <a:solidFill>
                  <a:srgbClr val="0F172A"/>
                </a:solidFill>
                <a:latin typeface="Poppins"/>
              </a:defRPr>
            </a:pPr>
            <a:endParaRPr lang="en-IN" dirty="0"/>
          </a:p>
          <a:p>
            <a:pPr>
              <a:defRPr sz="1100" b="1">
                <a:solidFill>
                  <a:srgbClr val="0F172A"/>
                </a:solidFill>
                <a:latin typeface="Poppins"/>
              </a:defRPr>
            </a:pPr>
            <a:r>
              <a:rPr dirty="0" err="1"/>
              <a:t>ocus</a:t>
            </a:r>
            <a:r>
              <a:rPr dirty="0"/>
              <a:t> Agenda</a:t>
            </a:r>
          </a:p>
        </p:txBody>
      </p:sp>
      <p:sp>
        <p:nvSpPr>
          <p:cNvPr id="33" name="TextBox 32"/>
          <p:cNvSpPr txBox="1"/>
          <p:nvPr/>
        </p:nvSpPr>
        <p:spPr>
          <a:xfrm>
            <a:off x="7589520" y="4572000"/>
            <a:ext cx="3383279" cy="914400"/>
          </a:xfrm>
          <a:prstGeom prst="rect">
            <a:avLst/>
          </a:prstGeom>
          <a:noFill/>
        </p:spPr>
        <p:txBody>
          <a:bodyPr wrap="square" lIns="0" tIns="0" rIns="0" bIns="0">
            <a:spAutoFit/>
          </a:bodyPr>
          <a:lstStyle/>
          <a:p>
            <a:pPr>
              <a:spcBef>
                <a:spcPts val="400"/>
              </a:spcBef>
              <a:defRPr sz="950" b="1">
                <a:solidFill>
                  <a:srgbClr val="475569"/>
                </a:solidFill>
                <a:latin typeface="Inter"/>
              </a:defRPr>
            </a:pPr>
            <a:r>
              <a:t>✓  Integrate Google Gemini API</a:t>
            </a:r>
          </a:p>
          <a:p>
            <a:pPr>
              <a:spcBef>
                <a:spcPts val="400"/>
              </a:spcBef>
              <a:defRPr sz="950" b="1">
                <a:solidFill>
                  <a:srgbClr val="475569"/>
                </a:solidFill>
                <a:latin typeface="Inter"/>
              </a:defRPr>
            </a:pPr>
            <a:r>
              <a:t>✓  Setup Supabase Database &amp; Auth</a:t>
            </a:r>
          </a:p>
          <a:p>
            <a:pPr>
              <a:spcBef>
                <a:spcPts val="400"/>
              </a:spcBef>
              <a:defRPr sz="950" b="1">
                <a:solidFill>
                  <a:srgbClr val="4F46E5"/>
                </a:solidFill>
                <a:latin typeface="Inter"/>
              </a:defRPr>
            </a:pPr>
            <a:r>
              <a:t>⚬  Deploy Next.js 15 App to Vercel</a:t>
            </a:r>
          </a:p>
        </p:txBody>
      </p:sp>
      <p:pic>
        <p:nvPicPr>
          <p:cNvPr id="35" name="Picture 34">
            <a:extLst>
              <a:ext uri="{FF2B5EF4-FFF2-40B4-BE49-F238E27FC236}">
                <a16:creationId xmlns:a16="http://schemas.microsoft.com/office/drawing/2014/main" id="{77D637F8-1FFA-2AF9-EAF8-AACF89816D2E}"/>
              </a:ext>
            </a:extLst>
          </p:cNvPr>
          <p:cNvPicPr>
            <a:picLocks noChangeAspect="1"/>
          </p:cNvPicPr>
          <p:nvPr/>
        </p:nvPicPr>
        <p:blipFill>
          <a:blip r:embed="rId2"/>
          <a:stretch>
            <a:fillRect/>
          </a:stretch>
        </p:blipFill>
        <p:spPr>
          <a:xfrm>
            <a:off x="338328" y="-192468"/>
            <a:ext cx="2414703" cy="29813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414"/>
    </mc:Choice>
    <mc:Fallback>
      <p:transition spd="slow" advTm="204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The Productivity Challenge</a:t>
            </a:r>
          </a:p>
        </p:txBody>
      </p:sp>
      <p:sp>
        <p:nvSpPr>
          <p:cNvPr id="4" name="Rounded Rectangle 3"/>
          <p:cNvSpPr/>
          <p:nvPr/>
        </p:nvSpPr>
        <p:spPr>
          <a:xfrm>
            <a:off x="731520" y="1554480"/>
            <a:ext cx="310896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719072"/>
            <a:ext cx="2779776" cy="1682496"/>
          </a:xfrm>
          <a:prstGeom prst="rect">
            <a:avLst/>
          </a:prstGeom>
          <a:noFill/>
        </p:spPr>
        <p:txBody>
          <a:bodyPr wrap="square" lIns="0" tIns="0" rIns="0" bIns="0">
            <a:spAutoFit/>
          </a:bodyPr>
          <a:lstStyle/>
          <a:p>
            <a:pPr>
              <a:defRPr sz="1500">
                <a:latin typeface="Segoe UI Emoji"/>
              </a:defRPr>
            </a:pPr>
            <a:r>
              <a:t>📋  </a:t>
            </a:r>
            <a:r>
              <a:rPr sz="1500" b="1">
                <a:solidFill>
                  <a:srgbClr val="0F172A"/>
                </a:solidFill>
                <a:latin typeface="Poppins"/>
              </a:rPr>
              <a:t>Task Overload</a:t>
            </a:r>
          </a:p>
          <a:p>
            <a:pPr>
              <a:spcBef>
                <a:spcPts val="600"/>
              </a:spcBef>
              <a:defRPr sz="1100">
                <a:solidFill>
                  <a:srgbClr val="475569"/>
                </a:solidFill>
                <a:latin typeface="Inter"/>
              </a:defRPr>
            </a:pPr>
            <a:r>
              <a:t>Users struggle to manage multiple daily tasks spread across various channels and disconnected tools.</a:t>
            </a:r>
          </a:p>
        </p:txBody>
      </p:sp>
      <p:sp>
        <p:nvSpPr>
          <p:cNvPr id="6" name="Rounded Rectangle 5"/>
          <p:cNvSpPr/>
          <p:nvPr/>
        </p:nvSpPr>
        <p:spPr>
          <a:xfrm>
            <a:off x="4114800" y="1554480"/>
            <a:ext cx="310896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79392" y="1719072"/>
            <a:ext cx="2779776" cy="1682496"/>
          </a:xfrm>
          <a:prstGeom prst="rect">
            <a:avLst/>
          </a:prstGeom>
          <a:noFill/>
        </p:spPr>
        <p:txBody>
          <a:bodyPr wrap="square" lIns="0" tIns="0" rIns="0" bIns="0">
            <a:spAutoFit/>
          </a:bodyPr>
          <a:lstStyle/>
          <a:p>
            <a:pPr>
              <a:defRPr sz="1500">
                <a:latin typeface="Segoe UI Emoji"/>
              </a:defRPr>
            </a:pPr>
            <a:r>
              <a:t>🗂️  </a:t>
            </a:r>
            <a:r>
              <a:rPr sz="1500" b="1">
                <a:solidFill>
                  <a:srgbClr val="0F172A"/>
                </a:solidFill>
                <a:latin typeface="Poppins"/>
              </a:rPr>
              <a:t>Disorganization</a:t>
            </a:r>
          </a:p>
          <a:p>
            <a:pPr>
              <a:spcBef>
                <a:spcPts val="600"/>
              </a:spcBef>
              <a:defRPr sz="1100">
                <a:solidFill>
                  <a:srgbClr val="475569"/>
                </a:solidFill>
                <a:latin typeface="Inter"/>
              </a:defRPr>
            </a:pPr>
            <a:r>
              <a:t>Without central organization, keeping track of category folders, tags, and priority levels is highly chaotic.</a:t>
            </a:r>
          </a:p>
        </p:txBody>
      </p:sp>
      <p:sp>
        <p:nvSpPr>
          <p:cNvPr id="8" name="Rounded Rectangle 7"/>
          <p:cNvSpPr/>
          <p:nvPr/>
        </p:nvSpPr>
        <p:spPr>
          <a:xfrm>
            <a:off x="731520" y="3840480"/>
            <a:ext cx="310896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4005072"/>
            <a:ext cx="2779776" cy="1682496"/>
          </a:xfrm>
          <a:prstGeom prst="rect">
            <a:avLst/>
          </a:prstGeom>
          <a:noFill/>
        </p:spPr>
        <p:txBody>
          <a:bodyPr wrap="square" lIns="0" tIns="0" rIns="0" bIns="0">
            <a:spAutoFit/>
          </a:bodyPr>
          <a:lstStyle/>
          <a:p>
            <a:pPr>
              <a:defRPr sz="1500">
                <a:latin typeface="Segoe UI Emoji"/>
              </a:defRPr>
            </a:pPr>
            <a:r>
              <a:t>⏱️  </a:t>
            </a:r>
            <a:r>
              <a:rPr sz="1500" b="1">
                <a:solidFill>
                  <a:srgbClr val="0F172A"/>
                </a:solidFill>
                <a:latin typeface="Poppins"/>
              </a:rPr>
              <a:t>Inefficient Planning</a:t>
            </a:r>
          </a:p>
          <a:p>
            <a:pPr>
              <a:spcBef>
                <a:spcPts val="600"/>
              </a:spcBef>
              <a:defRPr sz="1100">
                <a:solidFill>
                  <a:srgbClr val="475569"/>
                </a:solidFill>
                <a:latin typeface="Inter"/>
              </a:defRPr>
            </a:pPr>
            <a:r>
              <a:t>Estimating task times and scheduling a structured daily routine manually is slow and highly inefficient.</a:t>
            </a:r>
          </a:p>
        </p:txBody>
      </p:sp>
      <p:sp>
        <p:nvSpPr>
          <p:cNvPr id="10" name="Rounded Rectangle 9"/>
          <p:cNvSpPr/>
          <p:nvPr/>
        </p:nvSpPr>
        <p:spPr>
          <a:xfrm>
            <a:off x="4114800" y="3840480"/>
            <a:ext cx="310896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79392" y="4005072"/>
            <a:ext cx="2779776" cy="1682496"/>
          </a:xfrm>
          <a:prstGeom prst="rect">
            <a:avLst/>
          </a:prstGeom>
          <a:noFill/>
        </p:spPr>
        <p:txBody>
          <a:bodyPr wrap="square" lIns="0" tIns="0" rIns="0" bIns="0">
            <a:spAutoFit/>
          </a:bodyPr>
          <a:lstStyle/>
          <a:p>
            <a:pPr>
              <a:defRPr sz="1500">
                <a:latin typeface="Segoe UI Emoji"/>
              </a:defRPr>
            </a:pPr>
            <a:r>
              <a:t>🧠  </a:t>
            </a:r>
            <a:r>
              <a:rPr sz="1500" b="1">
                <a:solidFill>
                  <a:srgbClr val="0F172A"/>
                </a:solidFill>
                <a:latin typeface="Poppins"/>
              </a:rPr>
              <a:t>No Assistance</a:t>
            </a:r>
          </a:p>
          <a:p>
            <a:pPr>
              <a:spcBef>
                <a:spcPts val="600"/>
              </a:spcBef>
              <a:defRPr sz="1100">
                <a:solidFill>
                  <a:srgbClr val="475569"/>
                </a:solidFill>
                <a:latin typeface="Inter"/>
              </a:defRPr>
            </a:pPr>
            <a:r>
              <a:t>Standard note-taking checklists are passive; they lack context-aware recommendations to help complete work.</a:t>
            </a:r>
          </a:p>
        </p:txBody>
      </p:sp>
      <p:sp>
        <p:nvSpPr>
          <p:cNvPr id="12" name="Rounded Rectangle 11"/>
          <p:cNvSpPr/>
          <p:nvPr/>
        </p:nvSpPr>
        <p:spPr>
          <a:xfrm>
            <a:off x="7589520" y="1554480"/>
            <a:ext cx="3840480" cy="42976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54112" y="1719072"/>
            <a:ext cx="3511296" cy="3968496"/>
          </a:xfrm>
          <a:prstGeom prst="rect">
            <a:avLst/>
          </a:prstGeom>
          <a:noFill/>
        </p:spPr>
        <p:txBody>
          <a:bodyPr wrap="square" lIns="0" tIns="0" rIns="0" bIns="0">
            <a:spAutoFit/>
          </a:bodyPr>
          <a:lstStyle/>
          <a:p>
            <a:pPr>
              <a:defRPr sz="1500" b="1">
                <a:solidFill>
                  <a:srgbClr val="0F172A"/>
                </a:solidFill>
                <a:latin typeface="Poppins"/>
              </a:defRPr>
            </a:pPr>
            <a:r>
              <a:t>The Core Limitation</a:t>
            </a:r>
          </a:p>
          <a:p>
            <a:pPr>
              <a:spcBef>
                <a:spcPts val="600"/>
              </a:spcBef>
              <a:defRPr sz="1100">
                <a:solidFill>
                  <a:srgbClr val="475569"/>
                </a:solidFill>
                <a:latin typeface="Inter"/>
              </a:defRPr>
            </a:pPr>
            <a:r>
              <a:t>Traditional to-do list applications are static. They function as simple databases that depend entirely on manual user inputs, lacking the intelligence required to active assist, organize, or simplify complex workflows.</a:t>
            </a:r>
          </a:p>
        </p:txBody>
      </p:sp>
      <p:sp>
        <p:nvSpPr>
          <p:cNvPr id="14" name="Rounded Rectangle 13"/>
          <p:cNvSpPr/>
          <p:nvPr/>
        </p:nvSpPr>
        <p:spPr>
          <a:xfrm>
            <a:off x="7863840" y="3474720"/>
            <a:ext cx="3291840" cy="1828800"/>
          </a:xfrm>
          <a:prstGeom prst="roundRect">
            <a:avLst/>
          </a:prstGeom>
          <a:solidFill>
            <a:srgbClr val="FFFFF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28432" y="3639312"/>
            <a:ext cx="2962656" cy="1499616"/>
          </a:xfrm>
          <a:prstGeom prst="rect">
            <a:avLst/>
          </a:prstGeom>
          <a:noFill/>
        </p:spPr>
        <p:txBody>
          <a:bodyPr wrap="square" lIns="0" tIns="0" rIns="0" bIns="0">
            <a:spAutoFit/>
          </a:bodyPr>
          <a:lstStyle/>
          <a:p>
            <a:pPr>
              <a:defRPr sz="1300" b="1">
                <a:solidFill>
                  <a:srgbClr val="0F172A"/>
                </a:solidFill>
                <a:latin typeface="Poppins"/>
              </a:defRPr>
            </a:pPr>
            <a:r>
              <a:t>Traditional To-Do Lists Lack:</a:t>
            </a:r>
          </a:p>
          <a:p>
            <a:pPr>
              <a:spcBef>
                <a:spcPts val="600"/>
              </a:spcBef>
              <a:defRPr sz="1000">
                <a:solidFill>
                  <a:srgbClr val="475569"/>
                </a:solidFill>
                <a:latin typeface="Inter"/>
              </a:defRPr>
            </a:pPr>
            <a:r>
              <a:t>✗   Context-aware task breakdown</a:t>
            </a:r>
            <a:br/>
            <a:r>
              <a:t>✗   Conversational planning interface</a:t>
            </a:r>
            <a:br/>
            <a:r>
              <a:t>✗   Auto-categorization &amp; intelligence</a:t>
            </a:r>
            <a:br/>
            <a:r>
              <a:t>✗   Real-time analytical dashboards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Our Solution: AI-Powered Ecosystem</a:t>
            </a:r>
          </a:p>
        </p:txBody>
      </p:sp>
      <p:sp>
        <p:nvSpPr>
          <p:cNvPr id="4" name="Rounded Rectangle 3"/>
          <p:cNvSpPr/>
          <p:nvPr/>
        </p:nvSpPr>
        <p:spPr>
          <a:xfrm>
            <a:off x="731520" y="1554480"/>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719072"/>
            <a:ext cx="5888736" cy="329184"/>
          </a:xfrm>
          <a:prstGeom prst="rect">
            <a:avLst/>
          </a:prstGeom>
          <a:noFill/>
        </p:spPr>
        <p:txBody>
          <a:bodyPr wrap="square" lIns="0" tIns="0" rIns="0" bIns="0">
            <a:spAutoFit/>
          </a:bodyPr>
          <a:lstStyle/>
          <a:p>
            <a:pPr>
              <a:defRPr sz="1300" b="1">
                <a:solidFill>
                  <a:srgbClr val="0F172A"/>
                </a:solidFill>
                <a:latin typeface="Poppins"/>
              </a:defRPr>
            </a:pPr>
            <a:r>
              <a:t>🔐   Secure Authentication</a:t>
            </a:r>
          </a:p>
          <a:p>
            <a:pPr>
              <a:spcBef>
                <a:spcPts val="600"/>
              </a:spcBef>
              <a:defRPr sz="1050">
                <a:solidFill>
                  <a:srgbClr val="475569"/>
                </a:solidFill>
                <a:latin typeface="Inter"/>
              </a:defRPr>
            </a:pPr>
            <a:r>
              <a:t>Database logins via Supabase with private user workspace accounts.</a:t>
            </a:r>
          </a:p>
        </p:txBody>
      </p:sp>
      <p:sp>
        <p:nvSpPr>
          <p:cNvPr id="6" name="Rounded Rectangle 5"/>
          <p:cNvSpPr/>
          <p:nvPr/>
        </p:nvSpPr>
        <p:spPr>
          <a:xfrm>
            <a:off x="731520" y="2423160"/>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2587752"/>
            <a:ext cx="5888736" cy="329184"/>
          </a:xfrm>
          <a:prstGeom prst="rect">
            <a:avLst/>
          </a:prstGeom>
          <a:noFill/>
        </p:spPr>
        <p:txBody>
          <a:bodyPr wrap="square" lIns="0" tIns="0" rIns="0" bIns="0">
            <a:spAutoFit/>
          </a:bodyPr>
          <a:lstStyle/>
          <a:p>
            <a:pPr>
              <a:defRPr sz="1300" b="1">
                <a:solidFill>
                  <a:srgbClr val="0F172A"/>
                </a:solidFill>
                <a:latin typeface="Poppins"/>
              </a:defRPr>
            </a:pPr>
            <a:r>
              <a:t>💬   Conversational AI Chat</a:t>
            </a:r>
          </a:p>
          <a:p>
            <a:pPr>
              <a:spcBef>
                <a:spcPts val="600"/>
              </a:spcBef>
              <a:defRPr sz="1050">
                <a:solidFill>
                  <a:srgbClr val="475569"/>
                </a:solidFill>
                <a:latin typeface="Inter"/>
              </a:defRPr>
            </a:pPr>
            <a:r>
              <a:t>Ask Gemini to decompose complex milestones, write copy, or plan days.</a:t>
            </a:r>
          </a:p>
        </p:txBody>
      </p:sp>
      <p:sp>
        <p:nvSpPr>
          <p:cNvPr id="8" name="Rounded Rectangle 7"/>
          <p:cNvSpPr/>
          <p:nvPr/>
        </p:nvSpPr>
        <p:spPr>
          <a:xfrm>
            <a:off x="731520" y="3291839"/>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3456431"/>
            <a:ext cx="5888736" cy="329184"/>
          </a:xfrm>
          <a:prstGeom prst="rect">
            <a:avLst/>
          </a:prstGeom>
          <a:noFill/>
        </p:spPr>
        <p:txBody>
          <a:bodyPr wrap="square" lIns="0" tIns="0" rIns="0" bIns="0">
            <a:spAutoFit/>
          </a:bodyPr>
          <a:lstStyle/>
          <a:p>
            <a:pPr>
              <a:defRPr sz="1300" b="1">
                <a:solidFill>
                  <a:srgbClr val="0F172A"/>
                </a:solidFill>
                <a:latin typeface="Poppins"/>
              </a:defRPr>
            </a:pPr>
            <a:r>
              <a:t>📋   Intelligent Task Manager</a:t>
            </a:r>
          </a:p>
          <a:p>
            <a:pPr>
              <a:spcBef>
                <a:spcPts val="600"/>
              </a:spcBef>
              <a:defRPr sz="1050">
                <a:solidFill>
                  <a:srgbClr val="475569"/>
                </a:solidFill>
                <a:latin typeface="Inter"/>
              </a:defRPr>
            </a:pPr>
            <a:r>
              <a:t>Create, edit, prioritize, and track task completions effortlessly.</a:t>
            </a:r>
          </a:p>
        </p:txBody>
      </p:sp>
      <p:sp>
        <p:nvSpPr>
          <p:cNvPr id="10" name="Rounded Rectangle 9"/>
          <p:cNvSpPr/>
          <p:nvPr/>
        </p:nvSpPr>
        <p:spPr>
          <a:xfrm>
            <a:off x="731520" y="4160520"/>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4325112"/>
            <a:ext cx="5888736" cy="329184"/>
          </a:xfrm>
          <a:prstGeom prst="rect">
            <a:avLst/>
          </a:prstGeom>
          <a:noFill/>
        </p:spPr>
        <p:txBody>
          <a:bodyPr wrap="square" lIns="0" tIns="0" rIns="0" bIns="0">
            <a:spAutoFit/>
          </a:bodyPr>
          <a:lstStyle/>
          <a:p>
            <a:pPr>
              <a:defRPr sz="1300" b="1">
                <a:solidFill>
                  <a:srgbClr val="0F172A"/>
                </a:solidFill>
                <a:latin typeface="Poppins"/>
              </a:defRPr>
            </a:pPr>
            <a:r>
              <a:t>📊   Productivity Dashboard</a:t>
            </a:r>
          </a:p>
          <a:p>
            <a:pPr>
              <a:spcBef>
                <a:spcPts val="600"/>
              </a:spcBef>
              <a:defRPr sz="1050">
                <a:solidFill>
                  <a:srgbClr val="475569"/>
                </a:solidFill>
                <a:latin typeface="Inter"/>
              </a:defRPr>
            </a:pPr>
            <a:r>
              <a:t>Visualize project statistics, velocity, and completion rates in real time.</a:t>
            </a:r>
          </a:p>
        </p:txBody>
      </p:sp>
      <p:sp>
        <p:nvSpPr>
          <p:cNvPr id="12" name="Rounded Rectangle 11"/>
          <p:cNvSpPr/>
          <p:nvPr/>
        </p:nvSpPr>
        <p:spPr>
          <a:xfrm>
            <a:off x="731520" y="5029200"/>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5193792"/>
            <a:ext cx="5888736" cy="329184"/>
          </a:xfrm>
          <a:prstGeom prst="rect">
            <a:avLst/>
          </a:prstGeom>
          <a:noFill/>
        </p:spPr>
        <p:txBody>
          <a:bodyPr wrap="square" lIns="0" tIns="0" rIns="0" bIns="0">
            <a:spAutoFit/>
          </a:bodyPr>
          <a:lstStyle/>
          <a:p>
            <a:pPr>
              <a:defRPr sz="1300" b="1">
                <a:solidFill>
                  <a:srgbClr val="0F172A"/>
                </a:solidFill>
                <a:latin typeface="Poppins"/>
              </a:defRPr>
            </a:pPr>
            <a:r>
              <a:t>⚡   Edge Performance</a:t>
            </a:r>
          </a:p>
          <a:p>
            <a:pPr>
              <a:spcBef>
                <a:spcPts val="600"/>
              </a:spcBef>
              <a:defRPr sz="1050">
                <a:solidFill>
                  <a:srgbClr val="475569"/>
                </a:solidFill>
                <a:latin typeface="Inter"/>
              </a:defRPr>
            </a:pPr>
            <a:r>
              <a:t>Lightning-fast page renders with Next.js 15 and server-side logic.</a:t>
            </a:r>
          </a:p>
        </p:txBody>
      </p:sp>
      <p:sp>
        <p:nvSpPr>
          <p:cNvPr id="14" name="Rounded Rectangle 13"/>
          <p:cNvSpPr/>
          <p:nvPr/>
        </p:nvSpPr>
        <p:spPr>
          <a:xfrm>
            <a:off x="7589520" y="1554480"/>
            <a:ext cx="38404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54112" y="1719072"/>
            <a:ext cx="3511296" cy="3968496"/>
          </a:xfrm>
          <a:prstGeom prst="rect">
            <a:avLst/>
          </a:prstGeom>
          <a:noFill/>
        </p:spPr>
        <p:txBody>
          <a:bodyPr wrap="square" lIns="0" tIns="0" rIns="0" bIns="0">
            <a:spAutoFit/>
          </a:bodyPr>
          <a:lstStyle/>
          <a:p>
            <a:pPr>
              <a:defRPr sz="1400" b="1">
                <a:solidFill>
                  <a:srgbClr val="0F172A"/>
                </a:solidFill>
                <a:latin typeface="Poppins"/>
              </a:defRPr>
            </a:pPr>
            <a:r>
              <a:t>Interactive Architecture Workflow</a:t>
            </a:r>
          </a:p>
        </p:txBody>
      </p:sp>
      <p:sp>
        <p:nvSpPr>
          <p:cNvPr id="16" name="Rounded Rectangle 15"/>
          <p:cNvSpPr/>
          <p:nvPr/>
        </p:nvSpPr>
        <p:spPr>
          <a:xfrm>
            <a:off x="7955280" y="2194560"/>
            <a:ext cx="3108960" cy="457200"/>
          </a:xfrm>
          <a:prstGeom prst="roundRect">
            <a:avLst/>
          </a:prstGeom>
          <a:solidFill>
            <a:srgbClr val="F9FAFB"/>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19872" y="2359152"/>
            <a:ext cx="2779776" cy="128016"/>
          </a:xfrm>
          <a:prstGeom prst="rect">
            <a:avLst/>
          </a:prstGeom>
          <a:noFill/>
        </p:spPr>
        <p:txBody>
          <a:bodyPr wrap="square" lIns="0" tIns="0" rIns="0" bIns="0">
            <a:spAutoFit/>
          </a:bodyPr>
          <a:lstStyle/>
          <a:p>
            <a:pPr>
              <a:defRPr sz="1100" b="1">
                <a:solidFill>
                  <a:srgbClr val="0F172A"/>
                </a:solidFill>
                <a:latin typeface="Poppins"/>
              </a:defRPr>
            </a:pPr>
            <a:r>
              <a:t>👤  User Interaction</a:t>
            </a:r>
          </a:p>
        </p:txBody>
      </p:sp>
      <p:sp>
        <p:nvSpPr>
          <p:cNvPr id="18" name="Down Arrow 17"/>
          <p:cNvSpPr/>
          <p:nvPr/>
        </p:nvSpPr>
        <p:spPr>
          <a:xfrm>
            <a:off x="9418320" y="2651760"/>
            <a:ext cx="182880" cy="228600"/>
          </a:xfrm>
          <a:prstGeom prst="down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955280" y="2880360"/>
            <a:ext cx="3108960" cy="457200"/>
          </a:xfrm>
          <a:prstGeom prst="roundRect">
            <a:avLst/>
          </a:prstGeom>
          <a:solidFill>
            <a:srgbClr val="F9FAFB"/>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19872" y="3044952"/>
            <a:ext cx="2779776" cy="128016"/>
          </a:xfrm>
          <a:prstGeom prst="rect">
            <a:avLst/>
          </a:prstGeom>
          <a:noFill/>
        </p:spPr>
        <p:txBody>
          <a:bodyPr wrap="square" lIns="0" tIns="0" rIns="0" bIns="0">
            <a:spAutoFit/>
          </a:bodyPr>
          <a:lstStyle/>
          <a:p>
            <a:pPr>
              <a:defRPr sz="1100" b="1">
                <a:solidFill>
                  <a:srgbClr val="0F172A"/>
                </a:solidFill>
                <a:latin typeface="Poppins"/>
              </a:defRPr>
            </a:pPr>
            <a:r>
              <a:t>🔑  Secure Auth Session</a:t>
            </a:r>
          </a:p>
        </p:txBody>
      </p:sp>
      <p:sp>
        <p:nvSpPr>
          <p:cNvPr id="21" name="Down Arrow 20"/>
          <p:cNvSpPr/>
          <p:nvPr/>
        </p:nvSpPr>
        <p:spPr>
          <a:xfrm>
            <a:off x="9418320" y="3337560"/>
            <a:ext cx="182880" cy="228600"/>
          </a:xfrm>
          <a:prstGeom prst="down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955280" y="3566160"/>
            <a:ext cx="3108960" cy="457200"/>
          </a:xfrm>
          <a:prstGeom prst="roundRect">
            <a:avLst/>
          </a:prstGeom>
          <a:solidFill>
            <a:srgbClr val="F9FAFB"/>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19872" y="3730752"/>
            <a:ext cx="2779776" cy="128016"/>
          </a:xfrm>
          <a:prstGeom prst="rect">
            <a:avLst/>
          </a:prstGeom>
          <a:noFill/>
        </p:spPr>
        <p:txBody>
          <a:bodyPr wrap="square" lIns="0" tIns="0" rIns="0" bIns="0">
            <a:spAutoFit/>
          </a:bodyPr>
          <a:lstStyle/>
          <a:p>
            <a:pPr>
              <a:defRPr sz="1100" b="1">
                <a:solidFill>
                  <a:srgbClr val="0F172A"/>
                </a:solidFill>
                <a:latin typeface="Poppins"/>
              </a:defRPr>
            </a:pPr>
            <a:r>
              <a:t>📊  Workspace Dashboard</a:t>
            </a:r>
          </a:p>
        </p:txBody>
      </p:sp>
      <p:sp>
        <p:nvSpPr>
          <p:cNvPr id="24" name="Down Arrow 23"/>
          <p:cNvSpPr/>
          <p:nvPr/>
        </p:nvSpPr>
        <p:spPr>
          <a:xfrm>
            <a:off x="9418320" y="4023360"/>
            <a:ext cx="182880" cy="228600"/>
          </a:xfrm>
          <a:prstGeom prst="down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55280" y="4251960"/>
            <a:ext cx="3108960" cy="457200"/>
          </a:xfrm>
          <a:prstGeom prst="roundRect">
            <a:avLst/>
          </a:prstGeom>
          <a:solidFill>
            <a:srgbClr val="F9FAFB"/>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9872" y="4416552"/>
            <a:ext cx="2779776" cy="128016"/>
          </a:xfrm>
          <a:prstGeom prst="rect">
            <a:avLst/>
          </a:prstGeom>
          <a:noFill/>
        </p:spPr>
        <p:txBody>
          <a:bodyPr wrap="square" lIns="0" tIns="0" rIns="0" bIns="0">
            <a:spAutoFit/>
          </a:bodyPr>
          <a:lstStyle/>
          <a:p>
            <a:pPr>
              <a:defRPr sz="1100" b="1">
                <a:solidFill>
                  <a:srgbClr val="0F172A"/>
                </a:solidFill>
                <a:latin typeface="Poppins"/>
              </a:defRPr>
            </a:pPr>
            <a:r>
              <a:t>💬  Gemini AI Assistant</a:t>
            </a:r>
          </a:p>
        </p:txBody>
      </p:sp>
      <p:sp>
        <p:nvSpPr>
          <p:cNvPr id="27" name="Down Arrow 26"/>
          <p:cNvSpPr/>
          <p:nvPr/>
        </p:nvSpPr>
        <p:spPr>
          <a:xfrm>
            <a:off x="9418320" y="4709160"/>
            <a:ext cx="182880" cy="228600"/>
          </a:xfrm>
          <a:prstGeom prst="down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955280" y="4937760"/>
            <a:ext cx="3108960" cy="457200"/>
          </a:xfrm>
          <a:prstGeom prst="roundRect">
            <a:avLst/>
          </a:prstGeom>
          <a:solidFill>
            <a:srgbClr val="F9FAFB"/>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19872" y="5102352"/>
            <a:ext cx="2779776" cy="128016"/>
          </a:xfrm>
          <a:prstGeom prst="rect">
            <a:avLst/>
          </a:prstGeom>
          <a:noFill/>
        </p:spPr>
        <p:txBody>
          <a:bodyPr wrap="square" lIns="0" tIns="0" rIns="0" bIns="0">
            <a:spAutoFit/>
          </a:bodyPr>
          <a:lstStyle/>
          <a:p>
            <a:pPr>
              <a:defRPr sz="1100" b="1">
                <a:solidFill>
                  <a:srgbClr val="0F172A"/>
                </a:solidFill>
                <a:latin typeface="Poppins"/>
              </a:defRPr>
            </a:pPr>
            <a:r>
              <a:t>📝  Task Management Engine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Key Features Engineered for Efficiency</a:t>
            </a:r>
          </a:p>
        </p:txBody>
      </p:sp>
      <p:sp>
        <p:nvSpPr>
          <p:cNvPr id="4" name="Rounded Rectangle 3"/>
          <p:cNvSpPr/>
          <p:nvPr/>
        </p:nvSpPr>
        <p:spPr>
          <a:xfrm>
            <a:off x="73152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Secure Authentication</a:t>
            </a:r>
          </a:p>
          <a:p>
            <a:pPr>
              <a:spcBef>
                <a:spcPts val="600"/>
              </a:spcBef>
              <a:defRPr sz="1000">
                <a:solidFill>
                  <a:srgbClr val="475569"/>
                </a:solidFill>
                <a:latin typeface="Inter"/>
              </a:defRPr>
            </a:pPr>
            <a:r>
              <a:t>Next-gen user authentication powered by Supabase Auth with secure session tokens.</a:t>
            </a:r>
          </a:p>
        </p:txBody>
      </p:sp>
      <p:sp>
        <p:nvSpPr>
          <p:cNvPr id="6" name="Rounded Rectangle 5"/>
          <p:cNvSpPr/>
          <p:nvPr/>
        </p:nvSpPr>
        <p:spPr>
          <a:xfrm>
            <a:off x="342900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9359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AI Chat Workspace</a:t>
            </a:r>
          </a:p>
          <a:p>
            <a:pPr>
              <a:spcBef>
                <a:spcPts val="600"/>
              </a:spcBef>
              <a:defRPr sz="1000">
                <a:solidFill>
                  <a:srgbClr val="475569"/>
                </a:solidFill>
                <a:latin typeface="Inter"/>
              </a:defRPr>
            </a:pPr>
            <a:r>
              <a:t>Decompose projects into actionable items with conversational context via Gemini.</a:t>
            </a:r>
          </a:p>
        </p:txBody>
      </p:sp>
      <p:sp>
        <p:nvSpPr>
          <p:cNvPr id="8" name="Rounded Rectangle 7"/>
          <p:cNvSpPr/>
          <p:nvPr/>
        </p:nvSpPr>
        <p:spPr>
          <a:xfrm>
            <a:off x="612648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9107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Task Creation Engine</a:t>
            </a:r>
          </a:p>
          <a:p>
            <a:pPr>
              <a:spcBef>
                <a:spcPts val="600"/>
              </a:spcBef>
              <a:defRPr sz="1000">
                <a:solidFill>
                  <a:srgbClr val="475569"/>
                </a:solidFill>
                <a:latin typeface="Inter"/>
              </a:defRPr>
            </a:pPr>
            <a:r>
              <a:t>Quickly create tasks with flexible priorities, categories, and calendar deadlines.</a:t>
            </a:r>
          </a:p>
        </p:txBody>
      </p:sp>
      <p:sp>
        <p:nvSpPr>
          <p:cNvPr id="10" name="Rounded Rectangle 9"/>
          <p:cNvSpPr/>
          <p:nvPr/>
        </p:nvSpPr>
        <p:spPr>
          <a:xfrm>
            <a:off x="882396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8855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Completion Tracker</a:t>
            </a:r>
          </a:p>
          <a:p>
            <a:pPr>
              <a:spcBef>
                <a:spcPts val="600"/>
              </a:spcBef>
              <a:defRPr sz="1000">
                <a:solidFill>
                  <a:srgbClr val="475569"/>
                </a:solidFill>
                <a:latin typeface="Inter"/>
              </a:defRPr>
            </a:pPr>
            <a:r>
              <a:t>Mark items complete, update status, and archive old logs in a responsive dashboard.</a:t>
            </a:r>
          </a:p>
        </p:txBody>
      </p:sp>
      <p:sp>
        <p:nvSpPr>
          <p:cNvPr id="12" name="Rounded Rectangle 11"/>
          <p:cNvSpPr/>
          <p:nvPr/>
        </p:nvSpPr>
        <p:spPr>
          <a:xfrm>
            <a:off x="73152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Productivity Hub</a:t>
            </a:r>
          </a:p>
          <a:p>
            <a:pPr>
              <a:spcBef>
                <a:spcPts val="600"/>
              </a:spcBef>
              <a:defRPr sz="1000">
                <a:solidFill>
                  <a:srgbClr val="475569"/>
                </a:solidFill>
                <a:latin typeface="Inter"/>
              </a:defRPr>
            </a:pPr>
            <a:r>
              <a:t>Keep track of daily performance, velocity curves, and milestone statistics.</a:t>
            </a:r>
          </a:p>
        </p:txBody>
      </p:sp>
      <p:sp>
        <p:nvSpPr>
          <p:cNvPr id="14" name="Rounded Rectangle 13"/>
          <p:cNvSpPr/>
          <p:nvPr/>
        </p:nvSpPr>
        <p:spPr>
          <a:xfrm>
            <a:off x="342900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9359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Fluid Responsive Design</a:t>
            </a:r>
          </a:p>
          <a:p>
            <a:pPr>
              <a:spcBef>
                <a:spcPts val="600"/>
              </a:spcBef>
              <a:defRPr sz="1000">
                <a:solidFill>
                  <a:srgbClr val="475569"/>
                </a:solidFill>
                <a:latin typeface="Inter"/>
              </a:defRPr>
            </a:pPr>
            <a:r>
              <a:t>Fully adaptive grid layouts optimized for mobile, tablet, and widescreen viewports.</a:t>
            </a:r>
          </a:p>
        </p:txBody>
      </p:sp>
      <p:sp>
        <p:nvSpPr>
          <p:cNvPr id="16" name="Rounded Rectangle 15"/>
          <p:cNvSpPr/>
          <p:nvPr/>
        </p:nvSpPr>
        <p:spPr>
          <a:xfrm>
            <a:off x="612648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9107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Modern Minimalist UI</a:t>
            </a:r>
          </a:p>
          <a:p>
            <a:pPr>
              <a:spcBef>
                <a:spcPts val="600"/>
              </a:spcBef>
              <a:defRPr sz="1000">
                <a:solidFill>
                  <a:srgbClr val="475569"/>
                </a:solidFill>
                <a:latin typeface="Inter"/>
              </a:defRPr>
            </a:pPr>
            <a:r>
              <a:t>Elegant styling using Tailwind CSS featuring smooth transition effects and micro-interactions.</a:t>
            </a:r>
          </a:p>
        </p:txBody>
      </p:sp>
      <p:sp>
        <p:nvSpPr>
          <p:cNvPr id="18" name="Rounded Rectangle 17"/>
          <p:cNvSpPr/>
          <p:nvPr/>
        </p:nvSpPr>
        <p:spPr>
          <a:xfrm>
            <a:off x="882396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8855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Sub-Second AI Response</a:t>
            </a:r>
          </a:p>
          <a:p>
            <a:pPr>
              <a:spcBef>
                <a:spcPts val="600"/>
              </a:spcBef>
              <a:defRPr sz="1000">
                <a:solidFill>
                  <a:srgbClr val="475569"/>
                </a:solidFill>
                <a:latin typeface="Inter"/>
              </a:defRPr>
            </a:pPr>
            <a:r>
              <a:t>Optimized Next.js API endpoints communicating with Gemini API for real-time speed.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Technology Stack Grid</a:t>
            </a:r>
          </a:p>
        </p:txBody>
      </p:sp>
      <p:sp>
        <p:nvSpPr>
          <p:cNvPr id="4" name="Rounded Rectangle 3"/>
          <p:cNvSpPr/>
          <p:nvPr/>
        </p:nvSpPr>
        <p:spPr>
          <a:xfrm>
            <a:off x="731520" y="164592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10512"/>
            <a:ext cx="3145536" cy="168249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Frontend Framework</a:t>
            </a:r>
          </a:p>
          <a:p>
            <a:pPr>
              <a:spcBef>
                <a:spcPts val="600"/>
              </a:spcBef>
              <a:defRPr sz="1100">
                <a:solidFill>
                  <a:srgbClr val="475569"/>
                </a:solidFill>
                <a:latin typeface="Inter"/>
              </a:defRPr>
            </a:pPr>
            <a:r>
              <a:t>Next.js 15 / React</a:t>
            </a:r>
            <a:br/>
            <a:r>
              <a:t>TypeScript &amp; Tailwind CSS</a:t>
            </a:r>
          </a:p>
        </p:txBody>
      </p:sp>
      <p:sp>
        <p:nvSpPr>
          <p:cNvPr id="6" name="Rounded Rectangle 5"/>
          <p:cNvSpPr/>
          <p:nvPr/>
        </p:nvSpPr>
        <p:spPr>
          <a:xfrm>
            <a:off x="914400" y="3108960"/>
            <a:ext cx="109728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145536"/>
            <a:ext cx="1097280" cy="256032"/>
          </a:xfrm>
          <a:prstGeom prst="rect">
            <a:avLst/>
          </a:prstGeom>
          <a:noFill/>
        </p:spPr>
        <p:txBody>
          <a:bodyPr wrap="none" lIns="0" tIns="0" rIns="0" bIns="0">
            <a:spAutoFit/>
          </a:bodyPr>
          <a:lstStyle/>
          <a:p>
            <a:pPr algn="ctr">
              <a:defRPr sz="1000" b="1">
                <a:solidFill>
                  <a:srgbClr val="475569"/>
                </a:solidFill>
                <a:latin typeface="Inter"/>
              </a:defRPr>
            </a:pPr>
            <a:r>
              <a:t>Next.js</a:t>
            </a:r>
          </a:p>
        </p:txBody>
      </p:sp>
      <p:sp>
        <p:nvSpPr>
          <p:cNvPr id="8" name="Rounded Rectangle 7"/>
          <p:cNvSpPr/>
          <p:nvPr/>
        </p:nvSpPr>
        <p:spPr>
          <a:xfrm>
            <a:off x="2084832" y="3108960"/>
            <a:ext cx="91440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84832" y="3145536"/>
            <a:ext cx="914400" cy="256032"/>
          </a:xfrm>
          <a:prstGeom prst="rect">
            <a:avLst/>
          </a:prstGeom>
          <a:noFill/>
        </p:spPr>
        <p:txBody>
          <a:bodyPr wrap="none" lIns="0" tIns="0" rIns="0" bIns="0">
            <a:spAutoFit/>
          </a:bodyPr>
          <a:lstStyle/>
          <a:p>
            <a:pPr algn="ctr">
              <a:defRPr sz="1000" b="1">
                <a:solidFill>
                  <a:srgbClr val="475569"/>
                </a:solidFill>
                <a:latin typeface="Inter"/>
              </a:defRPr>
            </a:pPr>
            <a:r>
              <a:t>React</a:t>
            </a:r>
          </a:p>
        </p:txBody>
      </p:sp>
      <p:sp>
        <p:nvSpPr>
          <p:cNvPr id="10" name="Rounded Rectangle 9"/>
          <p:cNvSpPr/>
          <p:nvPr/>
        </p:nvSpPr>
        <p:spPr>
          <a:xfrm>
            <a:off x="3072384" y="3108960"/>
            <a:ext cx="118872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72384" y="3145536"/>
            <a:ext cx="1188720" cy="256032"/>
          </a:xfrm>
          <a:prstGeom prst="rect">
            <a:avLst/>
          </a:prstGeom>
          <a:noFill/>
        </p:spPr>
        <p:txBody>
          <a:bodyPr wrap="none" lIns="0" tIns="0" rIns="0" bIns="0">
            <a:spAutoFit/>
          </a:bodyPr>
          <a:lstStyle/>
          <a:p>
            <a:pPr algn="ctr">
              <a:defRPr sz="1000" b="1">
                <a:solidFill>
                  <a:srgbClr val="475569"/>
                </a:solidFill>
                <a:latin typeface="Inter"/>
              </a:defRPr>
            </a:pPr>
            <a:r>
              <a:t>Tailwind</a:t>
            </a:r>
          </a:p>
        </p:txBody>
      </p:sp>
      <p:sp>
        <p:nvSpPr>
          <p:cNvPr id="12" name="Rounded Rectangle 11"/>
          <p:cNvSpPr/>
          <p:nvPr/>
        </p:nvSpPr>
        <p:spPr>
          <a:xfrm>
            <a:off x="4343400" y="164592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07992" y="1810512"/>
            <a:ext cx="3145536" cy="168249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Backend Services</a:t>
            </a:r>
          </a:p>
          <a:p>
            <a:pPr>
              <a:spcBef>
                <a:spcPts val="600"/>
              </a:spcBef>
              <a:defRPr sz="1100">
                <a:solidFill>
                  <a:srgbClr val="475569"/>
                </a:solidFill>
                <a:latin typeface="Inter"/>
              </a:defRPr>
            </a:pPr>
            <a:r>
              <a:t>Next.js API Routes</a:t>
            </a:r>
            <a:br/>
            <a:r>
              <a:t>Edge &amp; Server Actions</a:t>
            </a:r>
          </a:p>
        </p:txBody>
      </p:sp>
      <p:sp>
        <p:nvSpPr>
          <p:cNvPr id="14" name="Rounded Rectangle 13"/>
          <p:cNvSpPr/>
          <p:nvPr/>
        </p:nvSpPr>
        <p:spPr>
          <a:xfrm>
            <a:off x="4526280" y="3108960"/>
            <a:ext cx="146304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3145536"/>
            <a:ext cx="1463040" cy="256032"/>
          </a:xfrm>
          <a:prstGeom prst="rect">
            <a:avLst/>
          </a:prstGeom>
          <a:noFill/>
        </p:spPr>
        <p:txBody>
          <a:bodyPr wrap="none" lIns="0" tIns="0" rIns="0" bIns="0">
            <a:spAutoFit/>
          </a:bodyPr>
          <a:lstStyle/>
          <a:p>
            <a:pPr algn="ctr">
              <a:defRPr sz="1000" b="1">
                <a:solidFill>
                  <a:srgbClr val="475569"/>
                </a:solidFill>
                <a:latin typeface="Inter"/>
              </a:defRPr>
            </a:pPr>
            <a:r>
              <a:t>Next.js API</a:t>
            </a:r>
          </a:p>
        </p:txBody>
      </p:sp>
      <p:sp>
        <p:nvSpPr>
          <p:cNvPr id="16" name="Rounded Rectangle 15"/>
          <p:cNvSpPr/>
          <p:nvPr/>
        </p:nvSpPr>
        <p:spPr>
          <a:xfrm>
            <a:off x="6062472" y="3108960"/>
            <a:ext cx="109728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62472" y="3145536"/>
            <a:ext cx="1097280" cy="256032"/>
          </a:xfrm>
          <a:prstGeom prst="rect">
            <a:avLst/>
          </a:prstGeom>
          <a:noFill/>
        </p:spPr>
        <p:txBody>
          <a:bodyPr wrap="none" lIns="0" tIns="0" rIns="0" bIns="0">
            <a:spAutoFit/>
          </a:bodyPr>
          <a:lstStyle/>
          <a:p>
            <a:pPr algn="ctr">
              <a:defRPr sz="1000" b="1">
                <a:solidFill>
                  <a:srgbClr val="475569"/>
                </a:solidFill>
                <a:latin typeface="Inter"/>
              </a:defRPr>
            </a:pPr>
            <a:r>
              <a:t>Node.js</a:t>
            </a:r>
          </a:p>
        </p:txBody>
      </p:sp>
      <p:sp>
        <p:nvSpPr>
          <p:cNvPr id="18" name="Rounded Rectangle 17"/>
          <p:cNvSpPr/>
          <p:nvPr/>
        </p:nvSpPr>
        <p:spPr>
          <a:xfrm>
            <a:off x="7955280" y="164592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19872" y="1810512"/>
            <a:ext cx="3145536" cy="168249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Database Layer</a:t>
            </a:r>
          </a:p>
          <a:p>
            <a:pPr>
              <a:spcBef>
                <a:spcPts val="600"/>
              </a:spcBef>
              <a:defRPr sz="1100">
                <a:solidFill>
                  <a:srgbClr val="475569"/>
                </a:solidFill>
                <a:latin typeface="Inter"/>
              </a:defRPr>
            </a:pPr>
            <a:r>
              <a:t>Supabase PostgreSQL</a:t>
            </a:r>
            <a:br/>
            <a:r>
              <a:t>Row-Level Security (RLS)</a:t>
            </a:r>
          </a:p>
        </p:txBody>
      </p:sp>
      <p:sp>
        <p:nvSpPr>
          <p:cNvPr id="20" name="Rounded Rectangle 19"/>
          <p:cNvSpPr/>
          <p:nvPr/>
        </p:nvSpPr>
        <p:spPr>
          <a:xfrm>
            <a:off x="8138160" y="3108960"/>
            <a:ext cx="118872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60" y="3145536"/>
            <a:ext cx="1188720" cy="256032"/>
          </a:xfrm>
          <a:prstGeom prst="rect">
            <a:avLst/>
          </a:prstGeom>
          <a:noFill/>
        </p:spPr>
        <p:txBody>
          <a:bodyPr wrap="none" lIns="0" tIns="0" rIns="0" bIns="0">
            <a:spAutoFit/>
          </a:bodyPr>
          <a:lstStyle/>
          <a:p>
            <a:pPr algn="ctr">
              <a:defRPr sz="1000" b="1">
                <a:solidFill>
                  <a:srgbClr val="475569"/>
                </a:solidFill>
                <a:latin typeface="Inter"/>
              </a:defRPr>
            </a:pPr>
            <a:r>
              <a:t>Postgres</a:t>
            </a:r>
          </a:p>
        </p:txBody>
      </p:sp>
      <p:sp>
        <p:nvSpPr>
          <p:cNvPr id="22" name="Rounded Rectangle 21"/>
          <p:cNvSpPr/>
          <p:nvPr/>
        </p:nvSpPr>
        <p:spPr>
          <a:xfrm>
            <a:off x="9400032" y="3108960"/>
            <a:ext cx="73152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00032" y="3145536"/>
            <a:ext cx="731520" cy="256032"/>
          </a:xfrm>
          <a:prstGeom prst="rect">
            <a:avLst/>
          </a:prstGeom>
          <a:noFill/>
        </p:spPr>
        <p:txBody>
          <a:bodyPr wrap="none" lIns="0" tIns="0" rIns="0" bIns="0">
            <a:spAutoFit/>
          </a:bodyPr>
          <a:lstStyle/>
          <a:p>
            <a:pPr algn="ctr">
              <a:defRPr sz="1000" b="1">
                <a:solidFill>
                  <a:srgbClr val="475569"/>
                </a:solidFill>
                <a:latin typeface="Inter"/>
              </a:defRPr>
            </a:pPr>
            <a:r>
              <a:t>SQL</a:t>
            </a:r>
          </a:p>
        </p:txBody>
      </p:sp>
      <p:sp>
        <p:nvSpPr>
          <p:cNvPr id="24" name="Rounded Rectangle 23"/>
          <p:cNvSpPr/>
          <p:nvPr/>
        </p:nvSpPr>
        <p:spPr>
          <a:xfrm>
            <a:off x="731520" y="393192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4096512"/>
            <a:ext cx="3145536" cy="168249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Authentication Provider</a:t>
            </a:r>
          </a:p>
          <a:p>
            <a:pPr>
              <a:spcBef>
                <a:spcPts val="600"/>
              </a:spcBef>
              <a:defRPr sz="1100">
                <a:solidFill>
                  <a:srgbClr val="475569"/>
                </a:solidFill>
                <a:latin typeface="Inter"/>
              </a:defRPr>
            </a:pPr>
            <a:r>
              <a:t>Supabase Auth</a:t>
            </a:r>
            <a:br/>
            <a:r>
              <a:t>Secure cookies &amp; JWT tokens</a:t>
            </a:r>
          </a:p>
        </p:txBody>
      </p:sp>
      <p:sp>
        <p:nvSpPr>
          <p:cNvPr id="26" name="Rounded Rectangle 25"/>
          <p:cNvSpPr/>
          <p:nvPr/>
        </p:nvSpPr>
        <p:spPr>
          <a:xfrm>
            <a:off x="914400" y="5394960"/>
            <a:ext cx="82296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431536"/>
            <a:ext cx="822960" cy="256032"/>
          </a:xfrm>
          <a:prstGeom prst="rect">
            <a:avLst/>
          </a:prstGeom>
          <a:noFill/>
        </p:spPr>
        <p:txBody>
          <a:bodyPr wrap="none" lIns="0" tIns="0" rIns="0" bIns="0">
            <a:spAutoFit/>
          </a:bodyPr>
          <a:lstStyle/>
          <a:p>
            <a:pPr algn="ctr">
              <a:defRPr sz="1000" b="1">
                <a:solidFill>
                  <a:srgbClr val="475569"/>
                </a:solidFill>
                <a:latin typeface="Inter"/>
              </a:defRPr>
            </a:pPr>
            <a:r>
              <a:t>Auth</a:t>
            </a:r>
          </a:p>
        </p:txBody>
      </p:sp>
      <p:sp>
        <p:nvSpPr>
          <p:cNvPr id="28" name="Rounded Rectangle 27"/>
          <p:cNvSpPr/>
          <p:nvPr/>
        </p:nvSpPr>
        <p:spPr>
          <a:xfrm>
            <a:off x="1810512" y="5394960"/>
            <a:ext cx="109728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810512" y="5431536"/>
            <a:ext cx="1097280" cy="256032"/>
          </a:xfrm>
          <a:prstGeom prst="rect">
            <a:avLst/>
          </a:prstGeom>
          <a:noFill/>
        </p:spPr>
        <p:txBody>
          <a:bodyPr wrap="none" lIns="0" tIns="0" rIns="0" bIns="0">
            <a:spAutoFit/>
          </a:bodyPr>
          <a:lstStyle/>
          <a:p>
            <a:pPr algn="ctr">
              <a:defRPr sz="1000" b="1">
                <a:solidFill>
                  <a:srgbClr val="475569"/>
                </a:solidFill>
                <a:latin typeface="Inter"/>
              </a:defRPr>
            </a:pPr>
            <a:r>
              <a:t>Session</a:t>
            </a:r>
          </a:p>
        </p:txBody>
      </p:sp>
      <p:sp>
        <p:nvSpPr>
          <p:cNvPr id="30" name="Rounded Rectangle 29"/>
          <p:cNvSpPr/>
          <p:nvPr/>
        </p:nvSpPr>
        <p:spPr>
          <a:xfrm>
            <a:off x="4343400" y="393192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07992" y="4096512"/>
            <a:ext cx="3145536" cy="168249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Artificial Intelligence</a:t>
            </a:r>
          </a:p>
          <a:p>
            <a:pPr>
              <a:spcBef>
                <a:spcPts val="600"/>
              </a:spcBef>
              <a:defRPr sz="1100">
                <a:solidFill>
                  <a:srgbClr val="475569"/>
                </a:solidFill>
                <a:latin typeface="Inter"/>
              </a:defRPr>
            </a:pPr>
            <a:r>
              <a:t>Google Gemini API</a:t>
            </a:r>
            <a:br/>
            <a:r>
              <a:t>Structured JSON Schema output</a:t>
            </a:r>
          </a:p>
        </p:txBody>
      </p:sp>
      <p:sp>
        <p:nvSpPr>
          <p:cNvPr id="32" name="Rounded Rectangle 31"/>
          <p:cNvSpPr/>
          <p:nvPr/>
        </p:nvSpPr>
        <p:spPr>
          <a:xfrm>
            <a:off x="4526280" y="5394960"/>
            <a:ext cx="137160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26280" y="5431536"/>
            <a:ext cx="1371600" cy="256032"/>
          </a:xfrm>
          <a:prstGeom prst="rect">
            <a:avLst/>
          </a:prstGeom>
          <a:noFill/>
        </p:spPr>
        <p:txBody>
          <a:bodyPr wrap="none" lIns="0" tIns="0" rIns="0" bIns="0">
            <a:spAutoFit/>
          </a:bodyPr>
          <a:lstStyle/>
          <a:p>
            <a:pPr algn="ctr">
              <a:defRPr sz="1000" b="1">
                <a:solidFill>
                  <a:srgbClr val="475569"/>
                </a:solidFill>
                <a:latin typeface="Inter"/>
              </a:defRPr>
            </a:pPr>
            <a:r>
              <a:t>Gemini API</a:t>
            </a:r>
          </a:p>
        </p:txBody>
      </p:sp>
      <p:sp>
        <p:nvSpPr>
          <p:cNvPr id="34" name="Rounded Rectangle 33"/>
          <p:cNvSpPr/>
          <p:nvPr/>
        </p:nvSpPr>
        <p:spPr>
          <a:xfrm>
            <a:off x="5971032" y="5394960"/>
            <a:ext cx="64008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71032" y="5431536"/>
            <a:ext cx="640080" cy="256032"/>
          </a:xfrm>
          <a:prstGeom prst="rect">
            <a:avLst/>
          </a:prstGeom>
          <a:noFill/>
        </p:spPr>
        <p:txBody>
          <a:bodyPr wrap="none" lIns="0" tIns="0" rIns="0" bIns="0">
            <a:spAutoFit/>
          </a:bodyPr>
          <a:lstStyle/>
          <a:p>
            <a:pPr algn="ctr">
              <a:defRPr sz="1000" b="1">
                <a:solidFill>
                  <a:srgbClr val="475569"/>
                </a:solidFill>
                <a:latin typeface="Inter"/>
              </a:defRPr>
            </a:pPr>
            <a:r>
              <a:t>AI</a:t>
            </a:r>
          </a:p>
        </p:txBody>
      </p:sp>
      <p:sp>
        <p:nvSpPr>
          <p:cNvPr id="36" name="Rounded Rectangle 35"/>
          <p:cNvSpPr/>
          <p:nvPr/>
        </p:nvSpPr>
        <p:spPr>
          <a:xfrm>
            <a:off x="7955280" y="393192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19872" y="4096512"/>
            <a:ext cx="3145536" cy="168249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Hosting &amp; Deployments</a:t>
            </a:r>
          </a:p>
          <a:p>
            <a:pPr>
              <a:spcBef>
                <a:spcPts val="600"/>
              </a:spcBef>
              <a:defRPr sz="1100">
                <a:solidFill>
                  <a:srgbClr val="475569"/>
                </a:solidFill>
                <a:latin typeface="Inter"/>
              </a:defRPr>
            </a:pPr>
            <a:r>
              <a:t>Vercel Cloud Platform</a:t>
            </a:r>
            <a:br/>
            <a:r>
              <a:t>CI/CD pipelines via GitHub</a:t>
            </a:r>
          </a:p>
        </p:txBody>
      </p:sp>
      <p:sp>
        <p:nvSpPr>
          <p:cNvPr id="38" name="Rounded Rectangle 37"/>
          <p:cNvSpPr/>
          <p:nvPr/>
        </p:nvSpPr>
        <p:spPr>
          <a:xfrm>
            <a:off x="8138160" y="5394960"/>
            <a:ext cx="100584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38160" y="5431536"/>
            <a:ext cx="1005840" cy="256032"/>
          </a:xfrm>
          <a:prstGeom prst="rect">
            <a:avLst/>
          </a:prstGeom>
          <a:noFill/>
        </p:spPr>
        <p:txBody>
          <a:bodyPr wrap="none" lIns="0" tIns="0" rIns="0" bIns="0">
            <a:spAutoFit/>
          </a:bodyPr>
          <a:lstStyle/>
          <a:p>
            <a:pPr algn="ctr">
              <a:defRPr sz="1000" b="1">
                <a:solidFill>
                  <a:srgbClr val="475569"/>
                </a:solidFill>
                <a:latin typeface="Inter"/>
              </a:defRPr>
            </a:pPr>
            <a:r>
              <a:t>Vercel</a:t>
            </a:r>
          </a:p>
        </p:txBody>
      </p:sp>
      <p:sp>
        <p:nvSpPr>
          <p:cNvPr id="40" name="Rounded Rectangle 39"/>
          <p:cNvSpPr/>
          <p:nvPr/>
        </p:nvSpPr>
        <p:spPr>
          <a:xfrm>
            <a:off x="9217152" y="5394960"/>
            <a:ext cx="1371600" cy="320040"/>
          </a:xfrm>
          <a:prstGeom prst="roundRect">
            <a:avLst/>
          </a:prstGeom>
          <a:solidFill>
            <a:srgbClr val="F3F4F6"/>
          </a:solidFill>
          <a:ln>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217152" y="5431536"/>
            <a:ext cx="1371600" cy="256032"/>
          </a:xfrm>
          <a:prstGeom prst="rect">
            <a:avLst/>
          </a:prstGeom>
          <a:noFill/>
        </p:spPr>
        <p:txBody>
          <a:bodyPr wrap="none" lIns="0" tIns="0" rIns="0" bIns="0">
            <a:spAutoFit/>
          </a:bodyPr>
          <a:lstStyle/>
          <a:p>
            <a:pPr algn="ctr">
              <a:defRPr sz="1000" b="1">
                <a:solidFill>
                  <a:srgbClr val="475569"/>
                </a:solidFill>
                <a:latin typeface="Inter"/>
              </a:defRPr>
            </a:pPr>
            <a:r>
              <a:t>Serverless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System Architecture &amp; Data Flows</a:t>
            </a:r>
          </a:p>
        </p:txBody>
      </p:sp>
      <p:sp>
        <p:nvSpPr>
          <p:cNvPr id="4" name="Rounded Rectangle 3"/>
          <p:cNvSpPr/>
          <p:nvPr/>
        </p:nvSpPr>
        <p:spPr>
          <a:xfrm>
            <a:off x="731520" y="2560320"/>
            <a:ext cx="20116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2724912"/>
            <a:ext cx="168249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Web Browser</a:t>
            </a:r>
          </a:p>
          <a:p>
            <a:pPr>
              <a:spcBef>
                <a:spcPts val="600"/>
              </a:spcBef>
              <a:defRPr sz="1050">
                <a:solidFill>
                  <a:srgbClr val="475569"/>
                </a:solidFill>
                <a:latin typeface="Inter"/>
              </a:defRPr>
            </a:pPr>
            <a:r>
              <a:t>User Interface</a:t>
            </a:r>
            <a:br/>
            <a:r>
              <a:t>React/Tailwind</a:t>
            </a:r>
          </a:p>
        </p:txBody>
      </p:sp>
      <p:sp>
        <p:nvSpPr>
          <p:cNvPr id="6" name="Rounded Rectangle 5"/>
          <p:cNvSpPr/>
          <p:nvPr/>
        </p:nvSpPr>
        <p:spPr>
          <a:xfrm>
            <a:off x="3474720" y="2560320"/>
            <a:ext cx="20116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39312" y="2724912"/>
            <a:ext cx="168249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Next.js Frontend</a:t>
            </a:r>
          </a:p>
          <a:p>
            <a:pPr>
              <a:spcBef>
                <a:spcPts val="600"/>
              </a:spcBef>
              <a:defRPr sz="1050">
                <a:solidFill>
                  <a:srgbClr val="475569"/>
                </a:solidFill>
                <a:latin typeface="Inter"/>
              </a:defRPr>
            </a:pPr>
            <a:r>
              <a:t>App Router</a:t>
            </a:r>
            <a:br/>
            <a:r>
              <a:t>Middleware</a:t>
            </a:r>
          </a:p>
        </p:txBody>
      </p:sp>
      <p:sp>
        <p:nvSpPr>
          <p:cNvPr id="8" name="Rounded Rectangle 7"/>
          <p:cNvSpPr/>
          <p:nvPr/>
        </p:nvSpPr>
        <p:spPr>
          <a:xfrm>
            <a:off x="6217920" y="2560320"/>
            <a:ext cx="20116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2724912"/>
            <a:ext cx="168249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API Routes</a:t>
            </a:r>
          </a:p>
          <a:p>
            <a:pPr>
              <a:spcBef>
                <a:spcPts val="600"/>
              </a:spcBef>
              <a:defRPr sz="1050">
                <a:solidFill>
                  <a:srgbClr val="475569"/>
                </a:solidFill>
                <a:latin typeface="Inter"/>
              </a:defRPr>
            </a:pPr>
            <a:r>
              <a:t>Server-side endpoints</a:t>
            </a:r>
            <a:br/>
            <a:r>
              <a:t>Secure Keys</a:t>
            </a:r>
          </a:p>
        </p:txBody>
      </p:sp>
      <p:sp>
        <p:nvSpPr>
          <p:cNvPr id="10" name="Rounded Rectangle 9"/>
          <p:cNvSpPr/>
          <p:nvPr/>
        </p:nvSpPr>
        <p:spPr>
          <a:xfrm>
            <a:off x="8961120" y="1645920"/>
            <a:ext cx="23774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25712" y="1810512"/>
            <a:ext cx="2048256" cy="95097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Google Gemini API</a:t>
            </a:r>
          </a:p>
          <a:p>
            <a:pPr>
              <a:spcBef>
                <a:spcPts val="600"/>
              </a:spcBef>
              <a:defRPr sz="1050">
                <a:solidFill>
                  <a:srgbClr val="475569"/>
                </a:solidFill>
                <a:latin typeface="Inter"/>
              </a:defRPr>
            </a:pPr>
            <a:r>
              <a:t>Generates AI responses</a:t>
            </a:r>
            <a:br/>
            <a:r>
              <a:t>Decomposes tasks</a:t>
            </a:r>
          </a:p>
        </p:txBody>
      </p:sp>
      <p:sp>
        <p:nvSpPr>
          <p:cNvPr id="12" name="Rounded Rectangle 11"/>
          <p:cNvSpPr/>
          <p:nvPr/>
        </p:nvSpPr>
        <p:spPr>
          <a:xfrm>
            <a:off x="8961120" y="3474720"/>
            <a:ext cx="23774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25712" y="3639312"/>
            <a:ext cx="2048256" cy="95097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Supabase Cloud</a:t>
            </a:r>
          </a:p>
          <a:p>
            <a:pPr>
              <a:spcBef>
                <a:spcPts val="600"/>
              </a:spcBef>
              <a:defRPr sz="1050">
                <a:solidFill>
                  <a:srgbClr val="475569"/>
                </a:solidFill>
                <a:latin typeface="Inter"/>
              </a:defRPr>
            </a:pPr>
            <a:r>
              <a:t>Auth &amp; Postgres DB</a:t>
            </a:r>
            <a:br/>
            <a:r>
              <a:t>Row Level Security</a:t>
            </a:r>
          </a:p>
        </p:txBody>
      </p:sp>
      <p:sp>
        <p:nvSpPr>
          <p:cNvPr id="14" name="Right Arrow 13"/>
          <p:cNvSpPr/>
          <p:nvPr/>
        </p:nvSpPr>
        <p:spPr>
          <a:xfrm>
            <a:off x="2834640" y="3154680"/>
            <a:ext cx="548640" cy="18288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5577840" y="3154680"/>
            <a:ext cx="548640" cy="18288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8321040" y="2743200"/>
            <a:ext cx="548640" cy="18288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8321040" y="3566160"/>
            <a:ext cx="548640" cy="18288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0" y="4389120"/>
            <a:ext cx="4754880" cy="128016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39312" y="4553712"/>
            <a:ext cx="4425696" cy="950976"/>
          </a:xfrm>
          <a:prstGeom prst="rect">
            <a:avLst/>
          </a:prstGeom>
          <a:noFill/>
        </p:spPr>
        <p:txBody>
          <a:bodyPr wrap="square" lIns="0" tIns="0" rIns="0" bIns="0">
            <a:spAutoFit/>
          </a:bodyPr>
          <a:lstStyle/>
          <a:p>
            <a:pPr>
              <a:defRPr sz="1200" b="1">
                <a:solidFill>
                  <a:srgbClr val="0F172A"/>
                </a:solidFill>
                <a:latin typeface="Poppins"/>
              </a:defRPr>
            </a:pPr>
            <a:r>
              <a:t>Security Boundaries</a:t>
            </a:r>
          </a:p>
          <a:p>
            <a:pPr>
              <a:spcBef>
                <a:spcPts val="600"/>
              </a:spcBef>
              <a:defRPr sz="1000">
                <a:solidFill>
                  <a:srgbClr val="475569"/>
                </a:solidFill>
                <a:latin typeface="Inter"/>
              </a:defRPr>
            </a:pPr>
            <a:r>
              <a:t>API keys are strictly bound to server routes (Backend). The browser (Frontend) never exposes the Google Gemini secret keys, interacting solely with authenticated endpoints.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Step-by-Step User Journey Workflow</a:t>
            </a:r>
          </a:p>
        </p:txBody>
      </p:sp>
      <p:sp>
        <p:nvSpPr>
          <p:cNvPr id="4" name="Rounded Rectangle 3"/>
          <p:cNvSpPr/>
          <p:nvPr/>
        </p:nvSpPr>
        <p:spPr>
          <a:xfrm>
            <a:off x="731520" y="1645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10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1. Landing Page</a:t>
            </a:r>
          </a:p>
          <a:p>
            <a:pPr>
              <a:spcBef>
                <a:spcPts val="600"/>
              </a:spcBef>
              <a:defRPr sz="950">
                <a:solidFill>
                  <a:srgbClr val="475569"/>
                </a:solidFill>
                <a:latin typeface="Inter"/>
              </a:defRPr>
            </a:pPr>
            <a:r>
              <a:t>User lands on app home screen.</a:t>
            </a:r>
          </a:p>
        </p:txBody>
      </p:sp>
      <p:sp>
        <p:nvSpPr>
          <p:cNvPr id="6" name="Right Arrow 5"/>
          <p:cNvSpPr/>
          <p:nvPr/>
        </p:nvSpPr>
        <p:spPr>
          <a:xfrm>
            <a:off x="3291840" y="2377440"/>
            <a:ext cx="137160" cy="18288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29000" y="1645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93592" y="1810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2. Login View</a:t>
            </a:r>
          </a:p>
          <a:p>
            <a:pPr>
              <a:spcBef>
                <a:spcPts val="600"/>
              </a:spcBef>
              <a:defRPr sz="950">
                <a:solidFill>
                  <a:srgbClr val="475569"/>
                </a:solidFill>
                <a:latin typeface="Inter"/>
              </a:defRPr>
            </a:pPr>
            <a:r>
              <a:t>User inputs credentials.</a:t>
            </a:r>
          </a:p>
        </p:txBody>
      </p:sp>
      <p:sp>
        <p:nvSpPr>
          <p:cNvPr id="9" name="Right Arrow 8"/>
          <p:cNvSpPr/>
          <p:nvPr/>
        </p:nvSpPr>
        <p:spPr>
          <a:xfrm>
            <a:off x="5989320" y="2377440"/>
            <a:ext cx="137160" cy="18288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26480" y="1645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91072" y="1810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3. Supabase Auth</a:t>
            </a:r>
          </a:p>
          <a:p>
            <a:pPr>
              <a:spcBef>
                <a:spcPts val="600"/>
              </a:spcBef>
              <a:defRPr sz="950">
                <a:solidFill>
                  <a:srgbClr val="475569"/>
                </a:solidFill>
                <a:latin typeface="Inter"/>
              </a:defRPr>
            </a:pPr>
            <a:r>
              <a:t>Token verify &amp; session load.</a:t>
            </a:r>
          </a:p>
        </p:txBody>
      </p:sp>
      <p:sp>
        <p:nvSpPr>
          <p:cNvPr id="12" name="Right Arrow 11"/>
          <p:cNvSpPr/>
          <p:nvPr/>
        </p:nvSpPr>
        <p:spPr>
          <a:xfrm>
            <a:off x="8686800" y="2377440"/>
            <a:ext cx="137160" cy="18288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823960" y="1645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88552" y="1810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4. Dashboard</a:t>
            </a:r>
          </a:p>
          <a:p>
            <a:pPr>
              <a:spcBef>
                <a:spcPts val="600"/>
              </a:spcBef>
              <a:defRPr sz="950">
                <a:solidFill>
                  <a:srgbClr val="475569"/>
                </a:solidFill>
                <a:latin typeface="Inter"/>
              </a:defRPr>
            </a:pPr>
            <a:r>
              <a:t>Workspace workspace is ready.</a:t>
            </a:r>
          </a:p>
        </p:txBody>
      </p:sp>
      <p:sp>
        <p:nvSpPr>
          <p:cNvPr id="15" name="Down Arrow 14"/>
          <p:cNvSpPr/>
          <p:nvPr/>
        </p:nvSpPr>
        <p:spPr>
          <a:xfrm>
            <a:off x="10058400" y="3383280"/>
            <a:ext cx="182880" cy="457200"/>
          </a:xfrm>
          <a:prstGeom prst="down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823960" y="3931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88552" y="4096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8. Task Sync</a:t>
            </a:r>
          </a:p>
          <a:p>
            <a:pPr>
              <a:spcBef>
                <a:spcPts val="600"/>
              </a:spcBef>
              <a:defRPr sz="950">
                <a:solidFill>
                  <a:srgbClr val="475569"/>
                </a:solidFill>
                <a:latin typeface="Inter"/>
              </a:defRPr>
            </a:pPr>
            <a:r>
              <a:t>State updates DB via Supabase.</a:t>
            </a:r>
          </a:p>
        </p:txBody>
      </p:sp>
      <p:sp>
        <p:nvSpPr>
          <p:cNvPr id="18" name="Left Arrow 17"/>
          <p:cNvSpPr/>
          <p:nvPr/>
        </p:nvSpPr>
        <p:spPr>
          <a:xfrm>
            <a:off x="8686800" y="4663440"/>
            <a:ext cx="137160" cy="182880"/>
          </a:xfrm>
          <a:prstGeom prst="lef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126480" y="3931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91072" y="4096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7. UI Display</a:t>
            </a:r>
          </a:p>
          <a:p>
            <a:pPr>
              <a:spcBef>
                <a:spcPts val="600"/>
              </a:spcBef>
              <a:defRPr sz="950">
                <a:solidFill>
                  <a:srgbClr val="475569"/>
                </a:solidFill>
                <a:latin typeface="Inter"/>
              </a:defRPr>
            </a:pPr>
            <a:r>
              <a:t>Output structured on cards.</a:t>
            </a:r>
          </a:p>
        </p:txBody>
      </p:sp>
      <p:sp>
        <p:nvSpPr>
          <p:cNvPr id="21" name="Left Arrow 20"/>
          <p:cNvSpPr/>
          <p:nvPr/>
        </p:nvSpPr>
        <p:spPr>
          <a:xfrm>
            <a:off x="5989320" y="4663440"/>
            <a:ext cx="137160" cy="182880"/>
          </a:xfrm>
          <a:prstGeom prst="lef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429000" y="3931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93592" y="4096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6. Gemini API</a:t>
            </a:r>
          </a:p>
          <a:p>
            <a:pPr>
              <a:spcBef>
                <a:spcPts val="600"/>
              </a:spcBef>
              <a:defRPr sz="950">
                <a:solidFill>
                  <a:srgbClr val="475569"/>
                </a:solidFill>
                <a:latin typeface="Inter"/>
              </a:defRPr>
            </a:pPr>
            <a:r>
              <a:t>Prompt returns JSON data.</a:t>
            </a:r>
          </a:p>
        </p:txBody>
      </p:sp>
      <p:sp>
        <p:nvSpPr>
          <p:cNvPr id="24" name="Left Arrow 23"/>
          <p:cNvSpPr/>
          <p:nvPr/>
        </p:nvSpPr>
        <p:spPr>
          <a:xfrm>
            <a:off x="3291840" y="4663440"/>
            <a:ext cx="137160" cy="182880"/>
          </a:xfrm>
          <a:prstGeom prst="lef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31520" y="3931920"/>
            <a:ext cx="25603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6112" y="4096512"/>
            <a:ext cx="2231136" cy="1316736"/>
          </a:xfrm>
          <a:prstGeom prst="rect">
            <a:avLst/>
          </a:prstGeom>
          <a:noFill/>
        </p:spPr>
        <p:txBody>
          <a:bodyPr wrap="square" lIns="0" tIns="0" rIns="0" bIns="0">
            <a:spAutoFit/>
          </a:bodyPr>
          <a:lstStyle/>
          <a:p>
            <a:pPr>
              <a:defRPr sz="1200">
                <a:latin typeface="Segoe UI Emoji"/>
              </a:defRPr>
            </a:pPr>
            <a:r>
              <a:t>💬  </a:t>
            </a:r>
            <a:r>
              <a:rPr sz="1200" b="1">
                <a:solidFill>
                  <a:srgbClr val="0F172A"/>
                </a:solidFill>
                <a:latin typeface="Poppins"/>
              </a:rPr>
              <a:t>5. Prompt AI</a:t>
            </a:r>
          </a:p>
          <a:p>
            <a:pPr>
              <a:spcBef>
                <a:spcPts val="600"/>
              </a:spcBef>
              <a:defRPr sz="950">
                <a:solidFill>
                  <a:srgbClr val="475569"/>
                </a:solidFill>
                <a:latin typeface="Inter"/>
              </a:defRPr>
            </a:pPr>
            <a:r>
              <a:t>User inputs request in Chat.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Application Interfaces &amp; Layouts</a:t>
            </a:r>
          </a:p>
        </p:txBody>
      </p:sp>
      <p:sp>
        <p:nvSpPr>
          <p:cNvPr id="4" name="Rounded Rectangle 3"/>
          <p:cNvSpPr/>
          <p:nvPr/>
        </p:nvSpPr>
        <p:spPr>
          <a:xfrm>
            <a:off x="731520" y="1645920"/>
            <a:ext cx="42062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4206240" cy="3474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1755648"/>
            <a:ext cx="109728" cy="109728"/>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755648"/>
            <a:ext cx="109728" cy="10972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234440" y="1755648"/>
            <a:ext cx="109728" cy="109728"/>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737360" y="1719072"/>
            <a:ext cx="2194560" cy="2011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37360" y="1737360"/>
            <a:ext cx="2194560" cy="164592"/>
          </a:xfrm>
          <a:prstGeom prst="rect">
            <a:avLst/>
          </a:prstGeom>
          <a:noFill/>
        </p:spPr>
        <p:txBody>
          <a:bodyPr wrap="none">
            <a:spAutoFit/>
          </a:bodyPr>
          <a:lstStyle/>
          <a:p>
            <a:pPr algn="ctr">
              <a:defRPr sz="800">
                <a:solidFill>
                  <a:srgbClr val="94A3B8"/>
                </a:solidFill>
                <a:latin typeface="Inter"/>
              </a:defRPr>
            </a:pPr>
            <a:r>
              <a:t>dashboard.smartproductivity.ai</a:t>
            </a:r>
          </a:p>
        </p:txBody>
      </p:sp>
      <p:sp>
        <p:nvSpPr>
          <p:cNvPr id="11" name="TextBox 10"/>
          <p:cNvSpPr txBox="1"/>
          <p:nvPr/>
        </p:nvSpPr>
        <p:spPr>
          <a:xfrm>
            <a:off x="914400" y="2176272"/>
            <a:ext cx="3840480" cy="1298448"/>
          </a:xfrm>
          <a:prstGeom prst="rect">
            <a:avLst/>
          </a:prstGeom>
          <a:noFill/>
        </p:spPr>
        <p:txBody>
          <a:bodyPr wrap="square">
            <a:spAutoFit/>
          </a:bodyPr>
          <a:lstStyle/>
          <a:p>
            <a:pPr algn="ctr">
              <a:defRPr sz="1200" b="1">
                <a:solidFill>
                  <a:srgbClr val="94A3B8"/>
                </a:solidFill>
                <a:latin typeface="Poppins"/>
              </a:defRPr>
            </a:pPr>
            <a:r>
              <a:t>🖼️</a:t>
            </a:r>
            <a:br/>
            <a:br/>
            <a:r>
              <a:t>Landing Page Mockup</a:t>
            </a:r>
          </a:p>
        </p:txBody>
      </p:sp>
      <p:sp>
        <p:nvSpPr>
          <p:cNvPr id="12" name="Rounded Rectangle 11"/>
          <p:cNvSpPr/>
          <p:nvPr/>
        </p:nvSpPr>
        <p:spPr>
          <a:xfrm>
            <a:off x="7132320" y="1645920"/>
            <a:ext cx="42062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132320" y="1645920"/>
            <a:ext cx="4206240" cy="3474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269480" y="1755648"/>
            <a:ext cx="109728" cy="109728"/>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52360" y="1755648"/>
            <a:ext cx="109728" cy="10972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635240" y="1755648"/>
            <a:ext cx="109728" cy="109728"/>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138160" y="1719072"/>
            <a:ext cx="2194560" cy="2011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1737360"/>
            <a:ext cx="2194560" cy="164592"/>
          </a:xfrm>
          <a:prstGeom prst="rect">
            <a:avLst/>
          </a:prstGeom>
          <a:noFill/>
        </p:spPr>
        <p:txBody>
          <a:bodyPr wrap="none">
            <a:spAutoFit/>
          </a:bodyPr>
          <a:lstStyle/>
          <a:p>
            <a:pPr algn="ctr">
              <a:defRPr sz="800">
                <a:solidFill>
                  <a:srgbClr val="94A3B8"/>
                </a:solidFill>
                <a:latin typeface="Inter"/>
              </a:defRPr>
            </a:pPr>
            <a:r>
              <a:t>dashboard.smartproductivity.ai/app</a:t>
            </a:r>
          </a:p>
        </p:txBody>
      </p:sp>
      <p:sp>
        <p:nvSpPr>
          <p:cNvPr id="19" name="TextBox 18"/>
          <p:cNvSpPr txBox="1"/>
          <p:nvPr/>
        </p:nvSpPr>
        <p:spPr>
          <a:xfrm>
            <a:off x="7315200" y="2176272"/>
            <a:ext cx="3840480" cy="1298448"/>
          </a:xfrm>
          <a:prstGeom prst="rect">
            <a:avLst/>
          </a:prstGeom>
          <a:noFill/>
        </p:spPr>
        <p:txBody>
          <a:bodyPr wrap="square">
            <a:spAutoFit/>
          </a:bodyPr>
          <a:lstStyle/>
          <a:p>
            <a:pPr algn="ctr">
              <a:defRPr sz="1200" b="1">
                <a:solidFill>
                  <a:srgbClr val="94A3B8"/>
                </a:solidFill>
                <a:latin typeface="Poppins"/>
              </a:defRPr>
            </a:pPr>
            <a:r>
              <a:t>🖼️</a:t>
            </a:r>
            <a:br/>
            <a:br/>
            <a:r>
              <a:t>Dashboard Mockup</a:t>
            </a:r>
          </a:p>
        </p:txBody>
      </p:sp>
      <p:sp>
        <p:nvSpPr>
          <p:cNvPr id="20" name="Rounded Rectangle 19"/>
          <p:cNvSpPr/>
          <p:nvPr/>
        </p:nvSpPr>
        <p:spPr>
          <a:xfrm>
            <a:off x="731520" y="4023360"/>
            <a:ext cx="42062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31520" y="4023360"/>
            <a:ext cx="4206240" cy="3474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68680" y="4133088"/>
            <a:ext cx="109728" cy="109728"/>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51560" y="4133088"/>
            <a:ext cx="109728" cy="10972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234440" y="4133088"/>
            <a:ext cx="109728" cy="109728"/>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737360" y="4096512"/>
            <a:ext cx="2194560" cy="2011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37360" y="4114800"/>
            <a:ext cx="2194560" cy="164592"/>
          </a:xfrm>
          <a:prstGeom prst="rect">
            <a:avLst/>
          </a:prstGeom>
          <a:noFill/>
        </p:spPr>
        <p:txBody>
          <a:bodyPr wrap="none">
            <a:spAutoFit/>
          </a:bodyPr>
          <a:lstStyle/>
          <a:p>
            <a:pPr algn="ctr">
              <a:defRPr sz="800">
                <a:solidFill>
                  <a:srgbClr val="94A3B8"/>
                </a:solidFill>
                <a:latin typeface="Inter"/>
              </a:defRPr>
            </a:pPr>
            <a:r>
              <a:t>dashboard.smartproductivity.ai/chat</a:t>
            </a:r>
          </a:p>
        </p:txBody>
      </p:sp>
      <p:sp>
        <p:nvSpPr>
          <p:cNvPr id="27" name="TextBox 26"/>
          <p:cNvSpPr txBox="1"/>
          <p:nvPr/>
        </p:nvSpPr>
        <p:spPr>
          <a:xfrm>
            <a:off x="914400" y="4553712"/>
            <a:ext cx="3840480" cy="1298448"/>
          </a:xfrm>
          <a:prstGeom prst="rect">
            <a:avLst/>
          </a:prstGeom>
          <a:noFill/>
        </p:spPr>
        <p:txBody>
          <a:bodyPr wrap="square">
            <a:spAutoFit/>
          </a:bodyPr>
          <a:lstStyle/>
          <a:p>
            <a:pPr algn="ctr">
              <a:defRPr sz="1200" b="1">
                <a:solidFill>
                  <a:srgbClr val="94A3B8"/>
                </a:solidFill>
                <a:latin typeface="Poppins"/>
              </a:defRPr>
            </a:pPr>
            <a:r>
              <a:t>🖼️</a:t>
            </a:r>
            <a:br/>
            <a:br/>
            <a:r>
              <a:t>AI Chat Workspace Mockup</a:t>
            </a:r>
          </a:p>
        </p:txBody>
      </p:sp>
      <p:sp>
        <p:nvSpPr>
          <p:cNvPr id="28" name="Rounded Rectangle 27"/>
          <p:cNvSpPr/>
          <p:nvPr/>
        </p:nvSpPr>
        <p:spPr>
          <a:xfrm>
            <a:off x="7132320" y="4023360"/>
            <a:ext cx="42062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132320" y="4023360"/>
            <a:ext cx="4206240" cy="3474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269480" y="4133088"/>
            <a:ext cx="109728" cy="109728"/>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452360" y="4133088"/>
            <a:ext cx="109728" cy="10972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635240" y="4133088"/>
            <a:ext cx="109728" cy="109728"/>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138160" y="4096512"/>
            <a:ext cx="2194560" cy="2011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38160" y="4114800"/>
            <a:ext cx="2194560" cy="164592"/>
          </a:xfrm>
          <a:prstGeom prst="rect">
            <a:avLst/>
          </a:prstGeom>
          <a:noFill/>
        </p:spPr>
        <p:txBody>
          <a:bodyPr wrap="none">
            <a:spAutoFit/>
          </a:bodyPr>
          <a:lstStyle/>
          <a:p>
            <a:pPr algn="ctr">
              <a:defRPr sz="800">
                <a:solidFill>
                  <a:srgbClr val="94A3B8"/>
                </a:solidFill>
                <a:latin typeface="Inter"/>
              </a:defRPr>
            </a:pPr>
            <a:r>
              <a:t>dashboard.smartproductivity.ai/tasks</a:t>
            </a:r>
          </a:p>
        </p:txBody>
      </p:sp>
      <p:sp>
        <p:nvSpPr>
          <p:cNvPr id="35" name="TextBox 34"/>
          <p:cNvSpPr txBox="1"/>
          <p:nvPr/>
        </p:nvSpPr>
        <p:spPr>
          <a:xfrm>
            <a:off x="7315200" y="4553712"/>
            <a:ext cx="3840480" cy="1298448"/>
          </a:xfrm>
          <a:prstGeom prst="rect">
            <a:avLst/>
          </a:prstGeom>
          <a:noFill/>
        </p:spPr>
        <p:txBody>
          <a:bodyPr wrap="square">
            <a:spAutoFit/>
          </a:bodyPr>
          <a:lstStyle/>
          <a:p>
            <a:pPr algn="ctr">
              <a:defRPr sz="1200" b="1">
                <a:solidFill>
                  <a:srgbClr val="94A3B8"/>
                </a:solidFill>
                <a:latin typeface="Poppins"/>
              </a:defRPr>
            </a:pPr>
            <a:r>
              <a:t>🖼️</a:t>
            </a:r>
            <a:br/>
            <a:br/>
            <a:r>
              <a:t>Task Manager Mockup</a:t>
            </a:r>
          </a:p>
        </p:txBody>
      </p:sp>
      <p:sp>
        <p:nvSpPr>
          <p:cNvPr id="36" name="Rounded Rectangle 35"/>
          <p:cNvSpPr/>
          <p:nvPr/>
        </p:nvSpPr>
        <p:spPr>
          <a:xfrm>
            <a:off x="5212080" y="1920240"/>
            <a:ext cx="1737360" cy="3840480"/>
          </a:xfrm>
          <a:prstGeom prst="roundRect">
            <a:avLst/>
          </a:prstGeom>
          <a:solidFill>
            <a:srgbClr val="0F172A"/>
          </a:solidFill>
          <a:ln w="317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5285232" y="1993392"/>
            <a:ext cx="1591056" cy="3694176"/>
          </a:xfrm>
          <a:prstGeom prst="roundRect">
            <a:avLst/>
          </a:prstGeom>
          <a:solidFill>
            <a:srgbClr val="FFFFFF"/>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5760720" y="1993392"/>
            <a:ext cx="640080" cy="137160"/>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806440" y="5650992"/>
            <a:ext cx="548640" cy="36576"/>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03520" y="2377440"/>
            <a:ext cx="1554480" cy="2926080"/>
          </a:xfrm>
          <a:prstGeom prst="rect">
            <a:avLst/>
          </a:prstGeom>
          <a:noFill/>
        </p:spPr>
        <p:txBody>
          <a:bodyPr wrap="square">
            <a:spAutoFit/>
          </a:bodyPr>
          <a:lstStyle/>
          <a:p>
            <a:pPr algn="ctr">
              <a:defRPr sz="900">
                <a:solidFill>
                  <a:srgbClr val="94A3B8"/>
                </a:solidFill>
                <a:latin typeface="Inter"/>
              </a:defRPr>
            </a:pPr>
            <a:r>
              <a:t>📱</a:t>
            </a:r>
            <a:br/>
            <a:br/>
            <a:br/>
            <a:br/>
            <a:r>
              <a:t>Responsiveness View</a:t>
            </a:r>
          </a:p>
          <a:p>
            <a:pPr algn="ctr">
              <a:spcBef>
                <a:spcPts val="800"/>
              </a:spcBef>
              <a:defRPr sz="1000" b="1">
                <a:solidFill>
                  <a:srgbClr val="4F46E5"/>
                </a:solidFill>
                <a:latin typeface="Poppins"/>
              </a:defRPr>
            </a:pPr>
            <a:r>
              <a:t>Mobile Responsive 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Project Advantages</a:t>
            </a:r>
          </a:p>
        </p:txBody>
      </p:sp>
      <p:sp>
        <p:nvSpPr>
          <p:cNvPr id="4" name="Rounded Rectangle 3"/>
          <p:cNvSpPr/>
          <p:nvPr/>
        </p:nvSpPr>
        <p:spPr>
          <a:xfrm>
            <a:off x="73152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Saves Time</a:t>
            </a:r>
          </a:p>
          <a:p>
            <a:pPr>
              <a:spcBef>
                <a:spcPts val="600"/>
              </a:spcBef>
              <a:defRPr sz="1000">
                <a:solidFill>
                  <a:srgbClr val="475569"/>
                </a:solidFill>
                <a:latin typeface="Inter"/>
              </a:defRPr>
            </a:pPr>
            <a:r>
              <a:t>Decomposes complex projects into actionable steps automatically, reducing manual planning overhead.</a:t>
            </a:r>
          </a:p>
        </p:txBody>
      </p:sp>
      <p:sp>
        <p:nvSpPr>
          <p:cNvPr id="6" name="Rounded Rectangle 5"/>
          <p:cNvSpPr/>
          <p:nvPr/>
        </p:nvSpPr>
        <p:spPr>
          <a:xfrm>
            <a:off x="342900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9359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AI Assistance</a:t>
            </a:r>
          </a:p>
          <a:p>
            <a:pPr>
              <a:spcBef>
                <a:spcPts val="600"/>
              </a:spcBef>
              <a:defRPr sz="1000">
                <a:solidFill>
                  <a:srgbClr val="475569"/>
                </a:solidFill>
                <a:latin typeface="Inter"/>
              </a:defRPr>
            </a:pPr>
            <a:r>
              <a:t>Contextual smart assistance handles email drafts, project planning, and answers domain questions.</a:t>
            </a:r>
          </a:p>
        </p:txBody>
      </p:sp>
      <p:sp>
        <p:nvSpPr>
          <p:cNvPr id="8" name="Rounded Rectangle 7"/>
          <p:cNvSpPr/>
          <p:nvPr/>
        </p:nvSpPr>
        <p:spPr>
          <a:xfrm>
            <a:off x="612648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9107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Structured Management</a:t>
            </a:r>
          </a:p>
          <a:p>
            <a:pPr>
              <a:spcBef>
                <a:spcPts val="600"/>
              </a:spcBef>
              <a:defRPr sz="1000">
                <a:solidFill>
                  <a:srgbClr val="475569"/>
                </a:solidFill>
                <a:latin typeface="Inter"/>
              </a:defRPr>
            </a:pPr>
            <a:r>
              <a:t>Visual Kanban cards help sort, filter, prioritize, and track task completions easily.</a:t>
            </a:r>
          </a:p>
        </p:txBody>
      </p:sp>
      <p:sp>
        <p:nvSpPr>
          <p:cNvPr id="10" name="Rounded Rectangle 9"/>
          <p:cNvSpPr/>
          <p:nvPr/>
        </p:nvSpPr>
        <p:spPr>
          <a:xfrm>
            <a:off x="8823960" y="164592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88552" y="181051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Responsive Layouts</a:t>
            </a:r>
          </a:p>
          <a:p>
            <a:pPr>
              <a:spcBef>
                <a:spcPts val="600"/>
              </a:spcBef>
              <a:defRPr sz="1000">
                <a:solidFill>
                  <a:srgbClr val="475569"/>
                </a:solidFill>
                <a:latin typeface="Inter"/>
              </a:defRPr>
            </a:pPr>
            <a:r>
              <a:t>Mobile-first grid styles guarantee fluid access on the move or in office layouts.</a:t>
            </a:r>
          </a:p>
        </p:txBody>
      </p:sp>
      <p:sp>
        <p:nvSpPr>
          <p:cNvPr id="12" name="Rounded Rectangle 11"/>
          <p:cNvSpPr/>
          <p:nvPr/>
        </p:nvSpPr>
        <p:spPr>
          <a:xfrm>
            <a:off x="73152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Secure Authentication</a:t>
            </a:r>
          </a:p>
          <a:p>
            <a:pPr>
              <a:spcBef>
                <a:spcPts val="600"/>
              </a:spcBef>
              <a:defRPr sz="1000">
                <a:solidFill>
                  <a:srgbClr val="475569"/>
                </a:solidFill>
                <a:latin typeface="Inter"/>
              </a:defRPr>
            </a:pPr>
            <a:r>
              <a:t>Ensures data isolation and personal file security backed by Supabase Auth protocols.</a:t>
            </a:r>
          </a:p>
        </p:txBody>
      </p:sp>
      <p:sp>
        <p:nvSpPr>
          <p:cNvPr id="14" name="Rounded Rectangle 13"/>
          <p:cNvSpPr/>
          <p:nvPr/>
        </p:nvSpPr>
        <p:spPr>
          <a:xfrm>
            <a:off x="342900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9359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Easy Navigation</a:t>
            </a:r>
          </a:p>
          <a:p>
            <a:pPr>
              <a:spcBef>
                <a:spcPts val="600"/>
              </a:spcBef>
              <a:defRPr sz="1000">
                <a:solidFill>
                  <a:srgbClr val="475569"/>
                </a:solidFill>
                <a:latin typeface="Inter"/>
              </a:defRPr>
            </a:pPr>
            <a:r>
              <a:t>Extremely clean, modern dashboard design requires zero onboarding cycles for users.</a:t>
            </a:r>
          </a:p>
        </p:txBody>
      </p:sp>
      <p:sp>
        <p:nvSpPr>
          <p:cNvPr id="16" name="Rounded Rectangle 15"/>
          <p:cNvSpPr/>
          <p:nvPr/>
        </p:nvSpPr>
        <p:spPr>
          <a:xfrm>
            <a:off x="612648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9107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Fast Performance</a:t>
            </a:r>
          </a:p>
          <a:p>
            <a:pPr>
              <a:spcBef>
                <a:spcPts val="600"/>
              </a:spcBef>
              <a:defRPr sz="1000">
                <a:solidFill>
                  <a:srgbClr val="475569"/>
                </a:solidFill>
                <a:latin typeface="Inter"/>
              </a:defRPr>
            </a:pPr>
            <a:r>
              <a:t>Sub-second database reads and static renders guarantee instantaneous loading.</a:t>
            </a:r>
          </a:p>
        </p:txBody>
      </p:sp>
      <p:sp>
        <p:nvSpPr>
          <p:cNvPr id="18" name="Rounded Rectangle 17"/>
          <p:cNvSpPr/>
          <p:nvPr/>
        </p:nvSpPr>
        <p:spPr>
          <a:xfrm>
            <a:off x="8823960" y="402336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88552" y="4187952"/>
            <a:ext cx="2231136" cy="177393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Scalable Foundations</a:t>
            </a:r>
          </a:p>
          <a:p>
            <a:pPr>
              <a:spcBef>
                <a:spcPts val="600"/>
              </a:spcBef>
              <a:defRPr sz="1000">
                <a:solidFill>
                  <a:srgbClr val="475569"/>
                </a:solidFill>
                <a:latin typeface="Inter"/>
              </a:defRPr>
            </a:pPr>
            <a:r>
              <a:t>Serverless endpoints and scalable database schemas make it easy to grow userbases.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Challenges Faced &amp; Solutions</a:t>
            </a:r>
          </a:p>
        </p:txBody>
      </p:sp>
      <p:sp>
        <p:nvSpPr>
          <p:cNvPr id="4" name="Rounded Rectangle 3"/>
          <p:cNvSpPr/>
          <p:nvPr/>
        </p:nvSpPr>
        <p:spPr>
          <a:xfrm>
            <a:off x="731520" y="16459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10512"/>
            <a:ext cx="497433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Gemini API Integration</a:t>
            </a:r>
          </a:p>
          <a:p>
            <a:pPr>
              <a:spcBef>
                <a:spcPts val="600"/>
              </a:spcBef>
              <a:defRPr sz="1050">
                <a:solidFill>
                  <a:srgbClr val="475569"/>
                </a:solidFill>
                <a:latin typeface="Inter"/>
              </a:defRPr>
            </a:pPr>
            <a:r>
              <a:t>Parsing raw model outputs reliably into database-compatible JSON structures. Solved by writing strict runtime validators.</a:t>
            </a:r>
          </a:p>
        </p:txBody>
      </p:sp>
      <p:sp>
        <p:nvSpPr>
          <p:cNvPr id="6" name="Rounded Rectangle 5"/>
          <p:cNvSpPr/>
          <p:nvPr/>
        </p:nvSpPr>
        <p:spPr>
          <a:xfrm>
            <a:off x="6172200" y="16459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36792" y="1810512"/>
            <a:ext cx="497433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Supabase Auth Middleware</a:t>
            </a:r>
          </a:p>
          <a:p>
            <a:pPr>
              <a:spcBef>
                <a:spcPts val="600"/>
              </a:spcBef>
              <a:defRPr sz="1050">
                <a:solidFill>
                  <a:srgbClr val="475569"/>
                </a:solidFill>
                <a:latin typeface="Inter"/>
              </a:defRPr>
            </a:pPr>
            <a:r>
              <a:t>Synchronizing server-side session states with client-side React routes. Resolved via custom cookie hooks.</a:t>
            </a:r>
          </a:p>
        </p:txBody>
      </p:sp>
      <p:sp>
        <p:nvSpPr>
          <p:cNvPr id="8" name="Rounded Rectangle 7"/>
          <p:cNvSpPr/>
          <p:nvPr/>
        </p:nvSpPr>
        <p:spPr>
          <a:xfrm>
            <a:off x="731520" y="32461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3410712"/>
            <a:ext cx="497433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Environment Variables</a:t>
            </a:r>
          </a:p>
          <a:p>
            <a:pPr>
              <a:spcBef>
                <a:spcPts val="600"/>
              </a:spcBef>
              <a:defRPr sz="1050">
                <a:solidFill>
                  <a:srgbClr val="475569"/>
                </a:solidFill>
                <a:latin typeface="Inter"/>
              </a:defRPr>
            </a:pPr>
            <a:r>
              <a:t>Securing API private keys in local and production environments. Managed via Next.js server actions.</a:t>
            </a:r>
          </a:p>
        </p:txBody>
      </p:sp>
      <p:sp>
        <p:nvSpPr>
          <p:cNvPr id="10" name="Rounded Rectangle 9"/>
          <p:cNvSpPr/>
          <p:nvPr/>
        </p:nvSpPr>
        <p:spPr>
          <a:xfrm>
            <a:off x="6172200" y="32461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3410712"/>
            <a:ext cx="497433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Vercel Edge Deployments</a:t>
            </a:r>
          </a:p>
          <a:p>
            <a:pPr>
              <a:spcBef>
                <a:spcPts val="600"/>
              </a:spcBef>
              <a:defRPr sz="1050">
                <a:solidFill>
                  <a:srgbClr val="475569"/>
                </a:solidFill>
                <a:latin typeface="Inter"/>
              </a:defRPr>
            </a:pPr>
            <a:r>
              <a:t>Handling build-time constraints and cold-start timeouts. Mitigated by optimizing module bundles.</a:t>
            </a:r>
          </a:p>
        </p:txBody>
      </p:sp>
      <p:sp>
        <p:nvSpPr>
          <p:cNvPr id="12" name="Rounded Rectangle 11"/>
          <p:cNvSpPr/>
          <p:nvPr/>
        </p:nvSpPr>
        <p:spPr>
          <a:xfrm>
            <a:off x="731520" y="48463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5010912"/>
            <a:ext cx="497433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State Management</a:t>
            </a:r>
          </a:p>
          <a:p>
            <a:pPr>
              <a:spcBef>
                <a:spcPts val="600"/>
              </a:spcBef>
              <a:defRPr sz="1050">
                <a:solidFill>
                  <a:srgbClr val="475569"/>
                </a:solidFill>
                <a:latin typeface="Inter"/>
              </a:defRPr>
            </a:pPr>
            <a:r>
              <a:t>Synchronizing local React memory state with Supabase cloud changes in real-time. Solved using React Context providers.</a:t>
            </a:r>
          </a:p>
        </p:txBody>
      </p:sp>
      <p:sp>
        <p:nvSpPr>
          <p:cNvPr id="14" name="Rounded Rectangle 13"/>
          <p:cNvSpPr/>
          <p:nvPr/>
        </p:nvSpPr>
        <p:spPr>
          <a:xfrm>
            <a:off x="6172200" y="4846320"/>
            <a:ext cx="53035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36792" y="5010912"/>
            <a:ext cx="4974336" cy="1042416"/>
          </a:xfrm>
          <a:prstGeom prst="rect">
            <a:avLst/>
          </a:prstGeom>
          <a:noFill/>
        </p:spPr>
        <p:txBody>
          <a:bodyPr wrap="square" lIns="0" tIns="0" rIns="0" bIns="0">
            <a:spAutoFit/>
          </a:bodyPr>
          <a:lstStyle/>
          <a:p>
            <a:pPr>
              <a:defRPr sz="1300">
                <a:latin typeface="Segoe UI Emoji"/>
              </a:defRPr>
            </a:pPr>
            <a:r>
              <a:t>🛡️  </a:t>
            </a:r>
            <a:r>
              <a:rPr sz="1300" b="1">
                <a:solidFill>
                  <a:srgbClr val="0F172A"/>
                </a:solidFill>
                <a:latin typeface="Poppins"/>
              </a:rPr>
              <a:t>Secure API Routes</a:t>
            </a:r>
          </a:p>
          <a:p>
            <a:pPr>
              <a:spcBef>
                <a:spcPts val="600"/>
              </a:spcBef>
              <a:defRPr sz="1050">
                <a:solidFill>
                  <a:srgbClr val="475569"/>
                </a:solidFill>
                <a:latin typeface="Inter"/>
              </a:defRPr>
            </a:pPr>
            <a:r>
              <a:t>Restricting unauthorized API execution on public routes. Resolved via Next.js route protection middleware.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Future Roadmap &amp; Enhancements</a:t>
            </a:r>
          </a:p>
        </p:txBody>
      </p:sp>
      <p:sp>
        <p:nvSpPr>
          <p:cNvPr id="4" name="Rounded Rectangle 3"/>
          <p:cNvSpPr/>
          <p:nvPr/>
        </p:nvSpPr>
        <p:spPr>
          <a:xfrm>
            <a:off x="731520" y="1554480"/>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719072"/>
            <a:ext cx="5888736" cy="329184"/>
          </a:xfrm>
          <a:prstGeom prst="rect">
            <a:avLst/>
          </a:prstGeom>
          <a:noFill/>
        </p:spPr>
        <p:txBody>
          <a:bodyPr wrap="square" lIns="0" tIns="0" rIns="0" bIns="0">
            <a:spAutoFit/>
          </a:bodyPr>
          <a:lstStyle/>
          <a:p>
            <a:pPr>
              <a:defRPr sz="1200" b="1">
                <a:solidFill>
                  <a:srgbClr val="0F172A"/>
                </a:solidFill>
                <a:latin typeface="Poppins"/>
              </a:defRPr>
            </a:pPr>
            <a:r>
              <a:t>🎙️   Voice Assistant Integration</a:t>
            </a:r>
          </a:p>
          <a:p>
            <a:pPr>
              <a:spcBef>
                <a:spcPts val="600"/>
              </a:spcBef>
              <a:defRPr sz="1000">
                <a:solidFill>
                  <a:srgbClr val="475569"/>
                </a:solidFill>
                <a:latin typeface="Inter"/>
              </a:defRPr>
            </a:pPr>
            <a:r>
              <a:t>Command and log daily task entries via natural voice prompts.</a:t>
            </a:r>
          </a:p>
        </p:txBody>
      </p:sp>
      <p:sp>
        <p:nvSpPr>
          <p:cNvPr id="6" name="Rounded Rectangle 5"/>
          <p:cNvSpPr/>
          <p:nvPr/>
        </p:nvSpPr>
        <p:spPr>
          <a:xfrm>
            <a:off x="731520" y="2359152"/>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2523744"/>
            <a:ext cx="5888736" cy="329184"/>
          </a:xfrm>
          <a:prstGeom prst="rect">
            <a:avLst/>
          </a:prstGeom>
          <a:noFill/>
        </p:spPr>
        <p:txBody>
          <a:bodyPr wrap="square" lIns="0" tIns="0" rIns="0" bIns="0">
            <a:spAutoFit/>
          </a:bodyPr>
          <a:lstStyle/>
          <a:p>
            <a:pPr>
              <a:defRPr sz="1200" b="1">
                <a:solidFill>
                  <a:srgbClr val="0F172A"/>
                </a:solidFill>
                <a:latin typeface="Poppins"/>
              </a:defRPr>
            </a:pPr>
            <a:r>
              <a:t>📅   Calendar Sync (Google/Outlook)</a:t>
            </a:r>
          </a:p>
          <a:p>
            <a:pPr>
              <a:spcBef>
                <a:spcPts val="600"/>
              </a:spcBef>
              <a:defRPr sz="1000">
                <a:solidFill>
                  <a:srgbClr val="475569"/>
                </a:solidFill>
                <a:latin typeface="Inter"/>
              </a:defRPr>
            </a:pPr>
            <a:r>
              <a:t>Automatically block times on external personal calendars.</a:t>
            </a:r>
          </a:p>
        </p:txBody>
      </p:sp>
      <p:sp>
        <p:nvSpPr>
          <p:cNvPr id="8" name="Rounded Rectangle 7"/>
          <p:cNvSpPr/>
          <p:nvPr/>
        </p:nvSpPr>
        <p:spPr>
          <a:xfrm>
            <a:off x="731520" y="3163824"/>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3328416"/>
            <a:ext cx="5888736" cy="329184"/>
          </a:xfrm>
          <a:prstGeom prst="rect">
            <a:avLst/>
          </a:prstGeom>
          <a:noFill/>
        </p:spPr>
        <p:txBody>
          <a:bodyPr wrap="square" lIns="0" tIns="0" rIns="0" bIns="0">
            <a:spAutoFit/>
          </a:bodyPr>
          <a:lstStyle/>
          <a:p>
            <a:pPr>
              <a:defRPr sz="1200" b="1">
                <a:solidFill>
                  <a:srgbClr val="0F172A"/>
                </a:solidFill>
                <a:latin typeface="Poppins"/>
              </a:defRPr>
            </a:pPr>
            <a:r>
              <a:t>🔔   Intelligent Push Reminders</a:t>
            </a:r>
          </a:p>
          <a:p>
            <a:pPr>
              <a:spcBef>
                <a:spcPts val="600"/>
              </a:spcBef>
              <a:defRPr sz="1000">
                <a:solidFill>
                  <a:srgbClr val="475569"/>
                </a:solidFill>
                <a:latin typeface="Inter"/>
              </a:defRPr>
            </a:pPr>
            <a:r>
              <a:t>Get smart triggers when priority deadlines approach.</a:t>
            </a:r>
          </a:p>
        </p:txBody>
      </p:sp>
      <p:sp>
        <p:nvSpPr>
          <p:cNvPr id="10" name="Rounded Rectangle 9"/>
          <p:cNvSpPr/>
          <p:nvPr/>
        </p:nvSpPr>
        <p:spPr>
          <a:xfrm>
            <a:off x="731520" y="3968496"/>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4133088"/>
            <a:ext cx="5888736" cy="329184"/>
          </a:xfrm>
          <a:prstGeom prst="rect">
            <a:avLst/>
          </a:prstGeom>
          <a:noFill/>
        </p:spPr>
        <p:txBody>
          <a:bodyPr wrap="square" lIns="0" tIns="0" rIns="0" bIns="0">
            <a:spAutoFit/>
          </a:bodyPr>
          <a:lstStyle/>
          <a:p>
            <a:pPr>
              <a:defRPr sz="1200" b="1">
                <a:solidFill>
                  <a:srgbClr val="0F172A"/>
                </a:solidFill>
                <a:latin typeface="Poppins"/>
              </a:defRPr>
            </a:pPr>
            <a:r>
              <a:t>🌙   Dark Mode &amp; UI Customization</a:t>
            </a:r>
          </a:p>
          <a:p>
            <a:pPr>
              <a:spcBef>
                <a:spcPts val="600"/>
              </a:spcBef>
              <a:defRPr sz="1000">
                <a:solidFill>
                  <a:srgbClr val="475569"/>
                </a:solidFill>
                <a:latin typeface="Inter"/>
              </a:defRPr>
            </a:pPr>
            <a:r>
              <a:t>Toggle theme schemas based on system preferences.</a:t>
            </a:r>
          </a:p>
        </p:txBody>
      </p:sp>
      <p:sp>
        <p:nvSpPr>
          <p:cNvPr id="12" name="Rounded Rectangle 11"/>
          <p:cNvSpPr/>
          <p:nvPr/>
        </p:nvSpPr>
        <p:spPr>
          <a:xfrm>
            <a:off x="731520" y="4773168"/>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4937760"/>
            <a:ext cx="5888736" cy="329184"/>
          </a:xfrm>
          <a:prstGeom prst="rect">
            <a:avLst/>
          </a:prstGeom>
          <a:noFill/>
        </p:spPr>
        <p:txBody>
          <a:bodyPr wrap="square" lIns="0" tIns="0" rIns="0" bIns="0">
            <a:spAutoFit/>
          </a:bodyPr>
          <a:lstStyle/>
          <a:p>
            <a:pPr>
              <a:defRPr sz="1200" b="1">
                <a:solidFill>
                  <a:srgbClr val="0F172A"/>
                </a:solidFill>
                <a:latin typeface="Poppins"/>
              </a:defRPr>
            </a:pPr>
            <a:r>
              <a:t>👥   Real-Time Team Workspaces</a:t>
            </a:r>
          </a:p>
          <a:p>
            <a:pPr>
              <a:spcBef>
                <a:spcPts val="600"/>
              </a:spcBef>
              <a:defRPr sz="1000">
                <a:solidFill>
                  <a:srgbClr val="475569"/>
                </a:solidFill>
                <a:latin typeface="Inter"/>
              </a:defRPr>
            </a:pPr>
            <a:r>
              <a:t>Collaborate on collective tasks and assign milestones.</a:t>
            </a:r>
          </a:p>
        </p:txBody>
      </p:sp>
      <p:sp>
        <p:nvSpPr>
          <p:cNvPr id="14" name="Rounded Rectangle 13"/>
          <p:cNvSpPr/>
          <p:nvPr/>
        </p:nvSpPr>
        <p:spPr>
          <a:xfrm>
            <a:off x="731520" y="5577840"/>
            <a:ext cx="62179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5742432"/>
            <a:ext cx="5888736" cy="329184"/>
          </a:xfrm>
          <a:prstGeom prst="rect">
            <a:avLst/>
          </a:prstGeom>
          <a:noFill/>
        </p:spPr>
        <p:txBody>
          <a:bodyPr wrap="square" lIns="0" tIns="0" rIns="0" bIns="0">
            <a:spAutoFit/>
          </a:bodyPr>
          <a:lstStyle/>
          <a:p>
            <a:pPr>
              <a:defRPr sz="1200" b="1">
                <a:solidFill>
                  <a:srgbClr val="0F172A"/>
                </a:solidFill>
                <a:latin typeface="Poppins"/>
              </a:defRPr>
            </a:pPr>
            <a:r>
              <a:t>📈   Advanced Analytics Dashboard</a:t>
            </a:r>
          </a:p>
          <a:p>
            <a:pPr>
              <a:spcBef>
                <a:spcPts val="600"/>
              </a:spcBef>
              <a:defRPr sz="1000">
                <a:solidFill>
                  <a:srgbClr val="475569"/>
                </a:solidFill>
                <a:latin typeface="Inter"/>
              </a:defRPr>
            </a:pPr>
            <a:r>
              <a:t>View weekly productivity analytics &amp; burn-down graphs.</a:t>
            </a:r>
          </a:p>
        </p:txBody>
      </p:sp>
      <p:sp>
        <p:nvSpPr>
          <p:cNvPr id="16" name="Rounded Rectangle 15"/>
          <p:cNvSpPr/>
          <p:nvPr/>
        </p:nvSpPr>
        <p:spPr>
          <a:xfrm>
            <a:off x="7315200" y="1554480"/>
            <a:ext cx="41148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79792" y="1719072"/>
            <a:ext cx="3785616" cy="4059936"/>
          </a:xfrm>
          <a:prstGeom prst="rect">
            <a:avLst/>
          </a:prstGeom>
          <a:noFill/>
        </p:spPr>
        <p:txBody>
          <a:bodyPr wrap="square" lIns="0" tIns="0" rIns="0" bIns="0">
            <a:spAutoFit/>
          </a:bodyPr>
          <a:lstStyle/>
          <a:p>
            <a:pPr>
              <a:defRPr sz="1400" b="1">
                <a:solidFill>
                  <a:srgbClr val="0F172A"/>
                </a:solidFill>
                <a:latin typeface="Poppins"/>
              </a:defRPr>
            </a:pPr>
            <a:r>
              <a:t>Next-Gen Architecture Evolution</a:t>
            </a:r>
          </a:p>
        </p:txBody>
      </p:sp>
      <p:sp>
        <p:nvSpPr>
          <p:cNvPr id="18" name="Rounded Rectangle 17"/>
          <p:cNvSpPr/>
          <p:nvPr/>
        </p:nvSpPr>
        <p:spPr>
          <a:xfrm>
            <a:off x="8732520" y="3383280"/>
            <a:ext cx="1280160" cy="12801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97112" y="3547872"/>
            <a:ext cx="950976" cy="950976"/>
          </a:xfrm>
          <a:prstGeom prst="rect">
            <a:avLst/>
          </a:prstGeom>
          <a:noFill/>
        </p:spPr>
        <p:txBody>
          <a:bodyPr wrap="square" lIns="0" tIns="0" rIns="0" bIns="0">
            <a:spAutoFit/>
          </a:bodyPr>
          <a:lstStyle/>
          <a:p>
            <a:pPr>
              <a:defRPr sz="1200" b="1">
                <a:solidFill>
                  <a:srgbClr val="FFFFFF"/>
                </a:solidFill>
                <a:latin typeface="Poppins"/>
              </a:defRPr>
            </a:pPr>
            <a:r>
              <a:t>Core</a:t>
            </a:r>
            <a:br/>
            <a:r>
              <a:t>v2.0</a:t>
            </a:r>
          </a:p>
        </p:txBody>
      </p:sp>
      <p:sp>
        <p:nvSpPr>
          <p:cNvPr id="20" name="Oval 19"/>
          <p:cNvSpPr/>
          <p:nvPr/>
        </p:nvSpPr>
        <p:spPr>
          <a:xfrm>
            <a:off x="7589520" y="2377440"/>
            <a:ext cx="822960" cy="822960"/>
          </a:xfrm>
          <a:prstGeom prst="ellipse">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0" y="2487168"/>
            <a:ext cx="822960" cy="603504"/>
          </a:xfrm>
          <a:prstGeom prst="rect">
            <a:avLst/>
          </a:prstGeom>
          <a:noFill/>
        </p:spPr>
        <p:txBody>
          <a:bodyPr wrap="square">
            <a:spAutoFit/>
          </a:bodyPr>
          <a:lstStyle/>
          <a:p>
            <a:pPr algn="ctr">
              <a:defRPr sz="850" b="1">
                <a:solidFill>
                  <a:srgbClr val="0F172A"/>
                </a:solidFill>
                <a:latin typeface="Inter"/>
              </a:defRPr>
            </a:pPr>
            <a:r>
              <a:t>🎙️</a:t>
            </a:r>
            <a:br/>
            <a:r>
              <a:t>Voice</a:t>
            </a:r>
          </a:p>
        </p:txBody>
      </p:sp>
      <p:sp>
        <p:nvSpPr>
          <p:cNvPr id="22" name="Oval 21"/>
          <p:cNvSpPr/>
          <p:nvPr/>
        </p:nvSpPr>
        <p:spPr>
          <a:xfrm>
            <a:off x="10332720" y="2377440"/>
            <a:ext cx="822960" cy="822960"/>
          </a:xfrm>
          <a:prstGeom prst="ellipse">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32720" y="2487168"/>
            <a:ext cx="822960" cy="603504"/>
          </a:xfrm>
          <a:prstGeom prst="rect">
            <a:avLst/>
          </a:prstGeom>
          <a:noFill/>
        </p:spPr>
        <p:txBody>
          <a:bodyPr wrap="square">
            <a:spAutoFit/>
          </a:bodyPr>
          <a:lstStyle/>
          <a:p>
            <a:pPr algn="ctr">
              <a:defRPr sz="850" b="1">
                <a:solidFill>
                  <a:srgbClr val="0F172A"/>
                </a:solidFill>
                <a:latin typeface="Inter"/>
              </a:defRPr>
            </a:pPr>
            <a:r>
              <a:t>👥</a:t>
            </a:r>
            <a:br/>
            <a:r>
              <a:t>Teams</a:t>
            </a:r>
          </a:p>
        </p:txBody>
      </p:sp>
      <p:sp>
        <p:nvSpPr>
          <p:cNvPr id="24" name="Oval 23"/>
          <p:cNvSpPr/>
          <p:nvPr/>
        </p:nvSpPr>
        <p:spPr>
          <a:xfrm>
            <a:off x="7589520" y="4389120"/>
            <a:ext cx="822960" cy="822960"/>
          </a:xfrm>
          <a:prstGeom prst="ellipse">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0" y="4498848"/>
            <a:ext cx="822960" cy="603504"/>
          </a:xfrm>
          <a:prstGeom prst="rect">
            <a:avLst/>
          </a:prstGeom>
          <a:noFill/>
        </p:spPr>
        <p:txBody>
          <a:bodyPr wrap="square">
            <a:spAutoFit/>
          </a:bodyPr>
          <a:lstStyle/>
          <a:p>
            <a:pPr algn="ctr">
              <a:defRPr sz="850" b="1">
                <a:solidFill>
                  <a:srgbClr val="0F172A"/>
                </a:solidFill>
                <a:latin typeface="Inter"/>
              </a:defRPr>
            </a:pPr>
            <a:r>
              <a:t>📅</a:t>
            </a:r>
            <a:br/>
            <a:r>
              <a:t>Calendar</a:t>
            </a:r>
          </a:p>
        </p:txBody>
      </p:sp>
      <p:sp>
        <p:nvSpPr>
          <p:cNvPr id="26" name="Oval 25"/>
          <p:cNvSpPr/>
          <p:nvPr/>
        </p:nvSpPr>
        <p:spPr>
          <a:xfrm>
            <a:off x="10332720" y="4389120"/>
            <a:ext cx="822960" cy="822960"/>
          </a:xfrm>
          <a:prstGeom prst="ellipse">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332720" y="4498848"/>
            <a:ext cx="822960" cy="603504"/>
          </a:xfrm>
          <a:prstGeom prst="rect">
            <a:avLst/>
          </a:prstGeom>
          <a:noFill/>
        </p:spPr>
        <p:txBody>
          <a:bodyPr wrap="square">
            <a:spAutoFit/>
          </a:bodyPr>
          <a:lstStyle/>
          <a:p>
            <a:pPr algn="ctr">
              <a:defRPr sz="850" b="1">
                <a:solidFill>
                  <a:srgbClr val="0F172A"/>
                </a:solidFill>
                <a:latin typeface="Inter"/>
              </a:defRPr>
            </a:pPr>
            <a:r>
              <a:t>📈</a:t>
            </a:r>
            <a:br/>
            <a:r>
              <a:t>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Live Demonstration</a:t>
            </a:r>
          </a:p>
        </p:txBody>
      </p:sp>
      <p:sp>
        <p:nvSpPr>
          <p:cNvPr id="4" name="Rounded Rectangle 3"/>
          <p:cNvSpPr/>
          <p:nvPr/>
        </p:nvSpPr>
        <p:spPr>
          <a:xfrm>
            <a:off x="731520" y="1645920"/>
            <a:ext cx="53035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10512"/>
            <a:ext cx="4974336" cy="1682496"/>
          </a:xfrm>
          <a:prstGeom prst="rect">
            <a:avLst/>
          </a:prstGeom>
          <a:noFill/>
        </p:spPr>
        <p:txBody>
          <a:bodyPr wrap="square" lIns="0" tIns="0" rIns="0" bIns="0">
            <a:spAutoFit/>
          </a:bodyPr>
          <a:lstStyle/>
          <a:p>
            <a:pPr>
              <a:defRPr sz="1500" b="1">
                <a:solidFill>
                  <a:srgbClr val="0F172A"/>
                </a:solidFill>
                <a:latin typeface="Poppins"/>
              </a:defRPr>
            </a:pPr>
            <a:r>
              <a:t>💻  GitHub Repository</a:t>
            </a:r>
          </a:p>
          <a:p>
            <a:pPr>
              <a:spcBef>
                <a:spcPts val="600"/>
              </a:spcBef>
              <a:defRPr sz="1100">
                <a:solidFill>
                  <a:srgbClr val="475569"/>
                </a:solidFill>
                <a:latin typeface="Inter"/>
              </a:defRPr>
            </a:pPr>
            <a:r>
              <a:t>Explore the source code base repository. Download setups, schemas, configs, and instructions.</a:t>
            </a:r>
          </a:p>
        </p:txBody>
      </p:sp>
      <p:sp>
        <p:nvSpPr>
          <p:cNvPr id="6" name="Rounded Rectangle 5"/>
          <p:cNvSpPr/>
          <p:nvPr/>
        </p:nvSpPr>
        <p:spPr>
          <a:xfrm>
            <a:off x="914400" y="3017520"/>
            <a:ext cx="2194560" cy="411480"/>
          </a:xfrm>
          <a:prstGeom prst="round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072384"/>
            <a:ext cx="2194560" cy="320040"/>
          </a:xfrm>
          <a:prstGeom prst="rect">
            <a:avLst/>
          </a:prstGeom>
          <a:noFill/>
        </p:spPr>
        <p:txBody>
          <a:bodyPr wrap="none">
            <a:spAutoFit/>
          </a:bodyPr>
          <a:lstStyle/>
          <a:p>
            <a:pPr algn="ctr">
              <a:defRPr sz="1000" b="1">
                <a:solidFill>
                  <a:srgbClr val="FFFFFF"/>
                </a:solidFill>
                <a:latin typeface="Poppins"/>
              </a:defRPr>
            </a:pPr>
            <a:r>
              <a:t>🌐   Open Repository</a:t>
            </a:r>
          </a:p>
        </p:txBody>
      </p:sp>
      <p:sp>
        <p:nvSpPr>
          <p:cNvPr id="8" name="Rounded Rectangle 7"/>
          <p:cNvSpPr/>
          <p:nvPr/>
        </p:nvSpPr>
        <p:spPr>
          <a:xfrm>
            <a:off x="6172200" y="1645920"/>
            <a:ext cx="53035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36792" y="1810512"/>
            <a:ext cx="4974336" cy="1682496"/>
          </a:xfrm>
          <a:prstGeom prst="rect">
            <a:avLst/>
          </a:prstGeom>
          <a:noFill/>
        </p:spPr>
        <p:txBody>
          <a:bodyPr wrap="square" lIns="0" tIns="0" rIns="0" bIns="0">
            <a:spAutoFit/>
          </a:bodyPr>
          <a:lstStyle/>
          <a:p>
            <a:pPr>
              <a:defRPr sz="1500" b="1">
                <a:solidFill>
                  <a:srgbClr val="0F172A"/>
                </a:solidFill>
                <a:latin typeface="Poppins"/>
              </a:defRPr>
            </a:pPr>
            <a:r>
              <a:t>🚀  Live Website</a:t>
            </a:r>
          </a:p>
          <a:p>
            <a:pPr>
              <a:spcBef>
                <a:spcPts val="600"/>
              </a:spcBef>
              <a:defRPr sz="1100">
                <a:solidFill>
                  <a:srgbClr val="475569"/>
                </a:solidFill>
                <a:latin typeface="Inter"/>
              </a:defRPr>
            </a:pPr>
            <a:r>
              <a:t>Test the production app deployment. Try authentication, layouts, and real-time database sync.</a:t>
            </a:r>
          </a:p>
        </p:txBody>
      </p:sp>
      <p:sp>
        <p:nvSpPr>
          <p:cNvPr id="10" name="Rounded Rectangle 9"/>
          <p:cNvSpPr/>
          <p:nvPr/>
        </p:nvSpPr>
        <p:spPr>
          <a:xfrm>
            <a:off x="6355080" y="3017520"/>
            <a:ext cx="2194560" cy="411480"/>
          </a:xfrm>
          <a:prstGeom prst="round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3072384"/>
            <a:ext cx="2194560" cy="320040"/>
          </a:xfrm>
          <a:prstGeom prst="rect">
            <a:avLst/>
          </a:prstGeom>
          <a:noFill/>
        </p:spPr>
        <p:txBody>
          <a:bodyPr wrap="none">
            <a:spAutoFit/>
          </a:bodyPr>
          <a:lstStyle/>
          <a:p>
            <a:pPr algn="ctr">
              <a:defRPr sz="1000" b="1">
                <a:solidFill>
                  <a:srgbClr val="FFFFFF"/>
                </a:solidFill>
                <a:latin typeface="Poppins"/>
              </a:defRPr>
            </a:pPr>
            <a:r>
              <a:t>🌐   Visit Website</a:t>
            </a:r>
          </a:p>
        </p:txBody>
      </p:sp>
      <p:sp>
        <p:nvSpPr>
          <p:cNvPr id="12" name="Rounded Rectangle 11"/>
          <p:cNvSpPr/>
          <p:nvPr/>
        </p:nvSpPr>
        <p:spPr>
          <a:xfrm>
            <a:off x="731520" y="3931920"/>
            <a:ext cx="53035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4096512"/>
            <a:ext cx="4974336" cy="1682496"/>
          </a:xfrm>
          <a:prstGeom prst="rect">
            <a:avLst/>
          </a:prstGeom>
          <a:noFill/>
        </p:spPr>
        <p:txBody>
          <a:bodyPr wrap="square" lIns="0" tIns="0" rIns="0" bIns="0">
            <a:spAutoFit/>
          </a:bodyPr>
          <a:lstStyle/>
          <a:p>
            <a:pPr>
              <a:defRPr sz="1500" b="1">
                <a:solidFill>
                  <a:srgbClr val="0F172A"/>
                </a:solidFill>
                <a:latin typeface="Poppins"/>
              </a:defRPr>
            </a:pPr>
            <a:r>
              <a:t>🎥  YouTube Walkthrough</a:t>
            </a:r>
          </a:p>
          <a:p>
            <a:pPr>
              <a:spcBef>
                <a:spcPts val="600"/>
              </a:spcBef>
              <a:defRPr sz="1100">
                <a:solidFill>
                  <a:srgbClr val="475569"/>
                </a:solidFill>
                <a:latin typeface="Inter"/>
              </a:defRPr>
            </a:pPr>
            <a:r>
              <a:t>Watch a three-minute demo showing app dashboard, database saves, and AI interactions.</a:t>
            </a:r>
          </a:p>
        </p:txBody>
      </p:sp>
      <p:sp>
        <p:nvSpPr>
          <p:cNvPr id="14" name="Rounded Rectangle 13"/>
          <p:cNvSpPr/>
          <p:nvPr/>
        </p:nvSpPr>
        <p:spPr>
          <a:xfrm>
            <a:off x="914400" y="5303520"/>
            <a:ext cx="2194560" cy="411480"/>
          </a:xfrm>
          <a:prstGeom prst="round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58384"/>
            <a:ext cx="2194560" cy="320040"/>
          </a:xfrm>
          <a:prstGeom prst="rect">
            <a:avLst/>
          </a:prstGeom>
          <a:noFill/>
        </p:spPr>
        <p:txBody>
          <a:bodyPr wrap="none">
            <a:spAutoFit/>
          </a:bodyPr>
          <a:lstStyle/>
          <a:p>
            <a:pPr algn="ctr">
              <a:defRPr sz="1000" b="1">
                <a:solidFill>
                  <a:srgbClr val="FFFFFF"/>
                </a:solidFill>
                <a:latin typeface="Poppins"/>
              </a:defRPr>
            </a:pPr>
            <a:r>
              <a:t>📺   Watch Video</a:t>
            </a:r>
          </a:p>
        </p:txBody>
      </p:sp>
      <p:sp>
        <p:nvSpPr>
          <p:cNvPr id="16" name="Rounded Rectangle 15"/>
          <p:cNvSpPr/>
          <p:nvPr/>
        </p:nvSpPr>
        <p:spPr>
          <a:xfrm>
            <a:off x="6172200" y="3931920"/>
            <a:ext cx="53035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36792" y="4096512"/>
            <a:ext cx="4974336" cy="1682496"/>
          </a:xfrm>
          <a:prstGeom prst="rect">
            <a:avLst/>
          </a:prstGeom>
          <a:noFill/>
        </p:spPr>
        <p:txBody>
          <a:bodyPr wrap="square" lIns="0" tIns="0" rIns="0" bIns="0">
            <a:spAutoFit/>
          </a:bodyPr>
          <a:lstStyle/>
          <a:p>
            <a:pPr>
              <a:defRPr sz="1500" b="1">
                <a:solidFill>
                  <a:srgbClr val="0F172A"/>
                </a:solidFill>
                <a:latin typeface="Poppins"/>
              </a:defRPr>
            </a:pPr>
            <a:r>
              <a:t>📸  UI Screenshots</a:t>
            </a:r>
          </a:p>
          <a:p>
            <a:pPr>
              <a:spcBef>
                <a:spcPts val="600"/>
              </a:spcBef>
              <a:defRPr sz="1100">
                <a:solidFill>
                  <a:srgbClr val="475569"/>
                </a:solidFill>
                <a:latin typeface="Inter"/>
              </a:defRPr>
            </a:pPr>
            <a:r>
              <a:t>View full-resolution desktop and mobile screens showcasing the complete user layout.</a:t>
            </a:r>
          </a:p>
        </p:txBody>
      </p:sp>
      <p:sp>
        <p:nvSpPr>
          <p:cNvPr id="18" name="Rounded Rectangle 17"/>
          <p:cNvSpPr/>
          <p:nvPr/>
        </p:nvSpPr>
        <p:spPr>
          <a:xfrm>
            <a:off x="6355080" y="5303520"/>
            <a:ext cx="2194560" cy="411480"/>
          </a:xfrm>
          <a:prstGeom prst="round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5358384"/>
            <a:ext cx="2194560" cy="320040"/>
          </a:xfrm>
          <a:prstGeom prst="rect">
            <a:avLst/>
          </a:prstGeom>
          <a:noFill/>
        </p:spPr>
        <p:txBody>
          <a:bodyPr wrap="none">
            <a:spAutoFit/>
          </a:bodyPr>
          <a:lstStyle/>
          <a:p>
            <a:pPr algn="ctr">
              <a:defRPr sz="1000" b="1">
                <a:solidFill>
                  <a:srgbClr val="FFFFFF"/>
                </a:solidFill>
                <a:latin typeface="Poppins"/>
              </a:defRPr>
            </a:pPr>
            <a:r>
              <a:t>🖼️   View Folder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4F46E5"/>
                </a:solidFill>
                <a:latin typeface="Poppins"/>
              </a:defRPr>
            </a:pPr>
            <a:r>
              <a:t>SMART PRODUCTIVITY ASSISTANT</a:t>
            </a:r>
          </a:p>
        </p:txBody>
      </p:sp>
      <p:sp>
        <p:nvSpPr>
          <p:cNvPr id="3" name="TextBox 2"/>
          <p:cNvSpPr txBox="1"/>
          <p:nvPr/>
        </p:nvSpPr>
        <p:spPr>
          <a:xfrm>
            <a:off x="731520" y="548640"/>
            <a:ext cx="10058400" cy="731520"/>
          </a:xfrm>
          <a:prstGeom prst="rect">
            <a:avLst/>
          </a:prstGeom>
          <a:noFill/>
        </p:spPr>
        <p:txBody>
          <a:bodyPr wrap="square" lIns="0" tIns="0" rIns="0" bIns="0">
            <a:spAutoFit/>
          </a:bodyPr>
          <a:lstStyle/>
          <a:p>
            <a:pPr>
              <a:defRPr sz="2800" b="1">
                <a:solidFill>
                  <a:srgbClr val="0F172A"/>
                </a:solidFill>
                <a:latin typeface="Poppins"/>
              </a:defRPr>
            </a:pPr>
            <a:r>
              <a:t>Conclusion &amp; Key Takeaways</a:t>
            </a:r>
          </a:p>
        </p:txBody>
      </p:sp>
      <p:sp>
        <p:nvSpPr>
          <p:cNvPr id="4" name="Rounded Rectangle 3"/>
          <p:cNvSpPr/>
          <p:nvPr/>
        </p:nvSpPr>
        <p:spPr>
          <a:xfrm>
            <a:off x="731520" y="1645920"/>
            <a:ext cx="106984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810512"/>
            <a:ext cx="10369296" cy="4059936"/>
          </a:xfrm>
          <a:prstGeom prst="rect">
            <a:avLst/>
          </a:prstGeom>
          <a:noFill/>
        </p:spPr>
        <p:txBody>
          <a:bodyPr wrap="square" lIns="0" tIns="0" rIns="0" bIns="0">
            <a:spAutoFit/>
          </a:bodyPr>
          <a:lstStyle/>
          <a:p>
            <a:pPr>
              <a:defRPr sz="1600" b="1">
                <a:solidFill>
                  <a:srgbClr val="0F172A"/>
                </a:solidFill>
                <a:latin typeface="Poppins"/>
              </a:defRPr>
            </a:pPr>
            <a:r>
              <a:t>Smart Productivity Assistant Ecosystem</a:t>
            </a:r>
          </a:p>
        </p:txBody>
      </p:sp>
      <p:sp>
        <p:nvSpPr>
          <p:cNvPr id="6" name="TextBox 5"/>
          <p:cNvSpPr txBox="1"/>
          <p:nvPr/>
        </p:nvSpPr>
        <p:spPr>
          <a:xfrm>
            <a:off x="1097280" y="2194560"/>
            <a:ext cx="9966960" cy="1645920"/>
          </a:xfrm>
          <a:prstGeom prst="rect">
            <a:avLst/>
          </a:prstGeom>
          <a:noFill/>
        </p:spPr>
        <p:txBody>
          <a:bodyPr wrap="square">
            <a:spAutoFit/>
          </a:bodyPr>
          <a:lstStyle/>
          <a:p>
            <a:pPr>
              <a:spcAft>
                <a:spcPts val="2000"/>
              </a:spcAft>
              <a:defRPr sz="1550">
                <a:solidFill>
                  <a:srgbClr val="475569"/>
                </a:solidFill>
                <a:latin typeface="Inter"/>
              </a:defRPr>
            </a:pPr>
            <a:r>
              <a:t>By uniting state-of-the-art Web Application Technologies with Large Language AI Models, the Smart Productivity Assistant redefines task tracking. It transforms passive 'lists' into intelligent personal organizers, showing how AI integration simplifies task structuring, scheduling, and workspace organization.</a:t>
            </a:r>
          </a:p>
          <a:p>
            <a:pPr>
              <a:defRPr sz="1400" b="1">
                <a:solidFill>
                  <a:srgbClr val="4F46E5"/>
                </a:solidFill>
                <a:latin typeface="Poppins"/>
              </a:defRPr>
            </a:pPr>
            <a:r>
              <a:t>Key Project Anchors:</a:t>
            </a:r>
          </a:p>
        </p:txBody>
      </p:sp>
      <p:sp>
        <p:nvSpPr>
          <p:cNvPr id="7" name="Rounded Rectangle 6"/>
          <p:cNvSpPr/>
          <p:nvPr/>
        </p:nvSpPr>
        <p:spPr>
          <a:xfrm>
            <a:off x="1097280" y="4572000"/>
            <a:ext cx="146304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608576"/>
            <a:ext cx="1463040" cy="256032"/>
          </a:xfrm>
          <a:prstGeom prst="rect">
            <a:avLst/>
          </a:prstGeom>
          <a:noFill/>
        </p:spPr>
        <p:txBody>
          <a:bodyPr wrap="none" lIns="0" tIns="0" rIns="0" bIns="0">
            <a:spAutoFit/>
          </a:bodyPr>
          <a:lstStyle/>
          <a:p>
            <a:pPr algn="ctr">
              <a:defRPr sz="1000" b="1">
                <a:solidFill>
                  <a:srgbClr val="4338CA"/>
                </a:solidFill>
                <a:latin typeface="Inter"/>
              </a:defRPr>
            </a:pPr>
            <a:r>
              <a:t>Next.js App</a:t>
            </a:r>
          </a:p>
        </p:txBody>
      </p:sp>
      <p:sp>
        <p:nvSpPr>
          <p:cNvPr id="9" name="Rounded Rectangle 8"/>
          <p:cNvSpPr/>
          <p:nvPr/>
        </p:nvSpPr>
        <p:spPr>
          <a:xfrm>
            <a:off x="2743200" y="4572000"/>
            <a:ext cx="192024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0" y="4608576"/>
            <a:ext cx="1920240" cy="256032"/>
          </a:xfrm>
          <a:prstGeom prst="rect">
            <a:avLst/>
          </a:prstGeom>
          <a:noFill/>
        </p:spPr>
        <p:txBody>
          <a:bodyPr wrap="none" lIns="0" tIns="0" rIns="0" bIns="0">
            <a:spAutoFit/>
          </a:bodyPr>
          <a:lstStyle/>
          <a:p>
            <a:pPr algn="ctr">
              <a:defRPr sz="1000" b="1">
                <a:solidFill>
                  <a:srgbClr val="4338CA"/>
                </a:solidFill>
                <a:latin typeface="Inter"/>
              </a:defRPr>
            </a:pPr>
            <a:r>
              <a:t>React Components</a:t>
            </a:r>
          </a:p>
        </p:txBody>
      </p:sp>
      <p:sp>
        <p:nvSpPr>
          <p:cNvPr id="11" name="Rounded Rectangle 10"/>
          <p:cNvSpPr/>
          <p:nvPr/>
        </p:nvSpPr>
        <p:spPr>
          <a:xfrm>
            <a:off x="4846320" y="4572000"/>
            <a:ext cx="192024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46320" y="4608576"/>
            <a:ext cx="1920240" cy="256032"/>
          </a:xfrm>
          <a:prstGeom prst="rect">
            <a:avLst/>
          </a:prstGeom>
          <a:noFill/>
        </p:spPr>
        <p:txBody>
          <a:bodyPr wrap="none" lIns="0" tIns="0" rIns="0" bIns="0">
            <a:spAutoFit/>
          </a:bodyPr>
          <a:lstStyle/>
          <a:p>
            <a:pPr algn="ctr">
              <a:defRPr sz="1000" b="1">
                <a:solidFill>
                  <a:srgbClr val="4338CA"/>
                </a:solidFill>
                <a:latin typeface="Inter"/>
              </a:defRPr>
            </a:pPr>
            <a:r>
              <a:t>TypeScript Typed</a:t>
            </a:r>
          </a:p>
        </p:txBody>
      </p:sp>
      <p:sp>
        <p:nvSpPr>
          <p:cNvPr id="13" name="Rounded Rectangle 12"/>
          <p:cNvSpPr/>
          <p:nvPr/>
        </p:nvSpPr>
        <p:spPr>
          <a:xfrm>
            <a:off x="6949440" y="4572000"/>
            <a:ext cx="219456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0" y="4608576"/>
            <a:ext cx="2194560" cy="256032"/>
          </a:xfrm>
          <a:prstGeom prst="rect">
            <a:avLst/>
          </a:prstGeom>
          <a:noFill/>
        </p:spPr>
        <p:txBody>
          <a:bodyPr wrap="none" lIns="0" tIns="0" rIns="0" bIns="0">
            <a:spAutoFit/>
          </a:bodyPr>
          <a:lstStyle/>
          <a:p>
            <a:pPr algn="ctr">
              <a:defRPr sz="1000" b="1">
                <a:solidFill>
                  <a:srgbClr val="4338CA"/>
                </a:solidFill>
                <a:latin typeface="Inter"/>
              </a:defRPr>
            </a:pPr>
            <a:r>
              <a:t>Tailwind CSS Layout</a:t>
            </a:r>
          </a:p>
        </p:txBody>
      </p:sp>
      <p:sp>
        <p:nvSpPr>
          <p:cNvPr id="15" name="Rounded Rectangle 14"/>
          <p:cNvSpPr/>
          <p:nvPr/>
        </p:nvSpPr>
        <p:spPr>
          <a:xfrm>
            <a:off x="9326880" y="4572000"/>
            <a:ext cx="201168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0" y="4608576"/>
            <a:ext cx="2011680" cy="256032"/>
          </a:xfrm>
          <a:prstGeom prst="rect">
            <a:avLst/>
          </a:prstGeom>
          <a:noFill/>
        </p:spPr>
        <p:txBody>
          <a:bodyPr wrap="none" lIns="0" tIns="0" rIns="0" bIns="0">
            <a:spAutoFit/>
          </a:bodyPr>
          <a:lstStyle/>
          <a:p>
            <a:pPr algn="ctr">
              <a:defRPr sz="1000" b="1">
                <a:solidFill>
                  <a:srgbClr val="4338CA"/>
                </a:solidFill>
                <a:latin typeface="Inter"/>
              </a:defRPr>
            </a:pPr>
            <a:r>
              <a:t>Supabase Database</a:t>
            </a:r>
          </a:p>
        </p:txBody>
      </p:sp>
      <p:sp>
        <p:nvSpPr>
          <p:cNvPr id="17" name="Rounded Rectangle 16"/>
          <p:cNvSpPr/>
          <p:nvPr/>
        </p:nvSpPr>
        <p:spPr>
          <a:xfrm>
            <a:off x="11521440" y="4572000"/>
            <a:ext cx="1920240" cy="320040"/>
          </a:xfrm>
          <a:prstGeom prst="roundRect">
            <a:avLst/>
          </a:prstGeom>
          <a:solidFill>
            <a:srgbClr val="E0E7FF"/>
          </a:solidFill>
          <a:ln>
            <a:solidFill>
              <a:srgbClr val="E0E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521440" y="4608576"/>
            <a:ext cx="1920240" cy="256032"/>
          </a:xfrm>
          <a:prstGeom prst="rect">
            <a:avLst/>
          </a:prstGeom>
          <a:noFill/>
        </p:spPr>
        <p:txBody>
          <a:bodyPr wrap="none" lIns="0" tIns="0" rIns="0" bIns="0">
            <a:spAutoFit/>
          </a:bodyPr>
          <a:lstStyle/>
          <a:p>
            <a:pPr algn="ctr">
              <a:defRPr sz="1000" b="1">
                <a:solidFill>
                  <a:srgbClr val="4338CA"/>
                </a:solidFill>
                <a:latin typeface="Inter"/>
              </a:defRPr>
            </a:pPr>
            <a:r>
              <a:t>Google Gemini AI</a:t>
            </a:r>
          </a:p>
        </p:txBody>
      </p:sp>
      <p:sp>
        <p:nvSpPr>
          <p:cNvPr id="19" name="Rounded Rectangle 18"/>
          <p:cNvSpPr/>
          <p:nvPr/>
        </p:nvSpPr>
        <p:spPr>
          <a:xfrm>
            <a:off x="1097280" y="5212080"/>
            <a:ext cx="9966960" cy="5486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61872" y="5376672"/>
            <a:ext cx="9637776" cy="219456"/>
          </a:xfrm>
          <a:prstGeom prst="rect">
            <a:avLst/>
          </a:prstGeom>
          <a:noFill/>
        </p:spPr>
        <p:txBody>
          <a:bodyPr wrap="square" lIns="0" tIns="0" rIns="0" bIns="0">
            <a:spAutoFit/>
          </a:bodyPr>
          <a:lstStyle/>
          <a:p>
            <a:pPr>
              <a:defRPr sz="1100" b="1">
                <a:solidFill>
                  <a:srgbClr val="0F172A"/>
                </a:solidFill>
                <a:latin typeface="Poppins"/>
              </a:defRPr>
            </a:pPr>
            <a:r>
              <a:t>Status: Production Ready</a:t>
            </a:r>
          </a:p>
          <a:p>
            <a:pPr>
              <a:spcBef>
                <a:spcPts val="600"/>
              </a:spcBef>
              <a:defRPr sz="950">
                <a:solidFill>
                  <a:srgbClr val="475569"/>
                </a:solidFill>
                <a:latin typeface="Inter"/>
              </a:defRPr>
            </a:pPr>
            <a:r>
              <a:t>Successfully compiled on TypeScript, validated locally, and deployed with isolated DB schemas.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8686800" y="-1371600"/>
            <a:ext cx="4572000" cy="4572000"/>
          </a:xfrm>
          <a:prstGeom prst="roundRect">
            <a:avLst/>
          </a:prstGeom>
          <a:solidFill>
            <a:srgbClr val="1E293B"/>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851392" y="-1207008"/>
            <a:ext cx="4242816" cy="4242816"/>
          </a:xfrm>
          <a:prstGeom prst="rect">
            <a:avLst/>
          </a:prstGeom>
          <a:noFill/>
        </p:spPr>
        <p:txBody>
          <a:bodyPr wrap="square" lIns="0" tIns="0" rIns="0" bIns="0">
            <a:spAutoFit/>
          </a:bodyPr>
          <a:lstStyle/>
          <a:p>
            <a:pPr>
              <a:defRPr sz="1500" b="1">
                <a:solidFill>
                  <a:srgbClr val="0F172A"/>
                </a:solidFill>
                <a:latin typeface="Poppins"/>
              </a:defRPr>
            </a:pPr>
            <a:endParaRPr/>
          </a:p>
        </p:txBody>
      </p:sp>
      <p:sp>
        <p:nvSpPr>
          <p:cNvPr id="4" name="Rounded Rectangle 3"/>
          <p:cNvSpPr/>
          <p:nvPr/>
        </p:nvSpPr>
        <p:spPr>
          <a:xfrm>
            <a:off x="-1828800" y="4114800"/>
            <a:ext cx="4572000" cy="4572000"/>
          </a:xfrm>
          <a:prstGeom prst="roundRect">
            <a:avLst/>
          </a:prstGeom>
          <a:solidFill>
            <a:srgbClr val="1E293B"/>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4208" y="4279392"/>
            <a:ext cx="4242816" cy="4242816"/>
          </a:xfrm>
          <a:prstGeom prst="rect">
            <a:avLst/>
          </a:prstGeom>
          <a:noFill/>
        </p:spPr>
        <p:txBody>
          <a:bodyPr wrap="square" lIns="0" tIns="0" rIns="0" bIns="0">
            <a:spAutoFit/>
          </a:bodyPr>
          <a:lstStyle/>
          <a:p>
            <a:pPr>
              <a:defRPr sz="1500" b="1">
                <a:solidFill>
                  <a:srgbClr val="0F172A"/>
                </a:solidFill>
                <a:latin typeface="Poppins"/>
              </a:defRPr>
            </a:pPr>
            <a:endParaRPr/>
          </a:p>
        </p:txBody>
      </p:sp>
      <p:sp>
        <p:nvSpPr>
          <p:cNvPr id="6" name="Oval 5"/>
          <p:cNvSpPr/>
          <p:nvPr/>
        </p:nvSpPr>
        <p:spPr>
          <a:xfrm>
            <a:off x="8961120" y="731520"/>
            <a:ext cx="2011680" cy="2011680"/>
          </a:xfrm>
          <a:prstGeom prst="ellipse">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601200" y="1645920"/>
            <a:ext cx="1097280" cy="1097280"/>
          </a:xfrm>
          <a:prstGeom prst="ellipse">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938528"/>
            <a:ext cx="9418320" cy="3200400"/>
          </a:xfrm>
          <a:prstGeom prst="rect">
            <a:avLst/>
          </a:prstGeom>
          <a:noFill/>
        </p:spPr>
        <p:txBody>
          <a:bodyPr wrap="square" lIns="0" tIns="0" rIns="0" bIns="0">
            <a:spAutoFit/>
          </a:bodyPr>
          <a:lstStyle/>
          <a:p>
            <a:pPr algn="ctr">
              <a:defRPr sz="6400" b="1">
                <a:solidFill>
                  <a:srgbClr val="FFFFFF"/>
                </a:solidFill>
                <a:latin typeface="Poppins"/>
              </a:defRPr>
            </a:pPr>
            <a:r>
              <a:t>Thank You</a:t>
            </a:r>
          </a:p>
          <a:p>
            <a:pPr algn="ctr">
              <a:spcBef>
                <a:spcPts val="1200"/>
              </a:spcBef>
              <a:defRPr sz="2200" b="1">
                <a:solidFill>
                  <a:srgbClr val="7C3AED"/>
                </a:solidFill>
                <a:latin typeface="Poppins"/>
              </a:defRPr>
            </a:pPr>
            <a:r>
              <a:t>Questions &amp; Answers Session</a:t>
            </a:r>
          </a:p>
          <a:p>
            <a:pPr algn="ctr">
              <a:spcBef>
                <a:spcPts val="3600"/>
              </a:spcBef>
              <a:defRPr sz="1300">
                <a:solidFill>
                  <a:srgbClr val="94A3B8"/>
                </a:solidFill>
                <a:latin typeface="Inter"/>
              </a:defRPr>
            </a:pPr>
            <a:r>
              <a:t>Contact Presenter: Pooja Nair  |  Email: pooja.nair@example.com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1400</Words>
  <Application>Microsoft Office PowerPoint</Application>
  <PresentationFormat>Widescreen</PresentationFormat>
  <Paragraphs>224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Pooja Nair</cp:lastModifiedBy>
  <cp:revision>3</cp:revision>
  <dcterms:created xsi:type="dcterms:W3CDTF">2013-01-27T09:14:16Z</dcterms:created>
  <dcterms:modified xsi:type="dcterms:W3CDTF">2026-06-26T06:59:27Z</dcterms:modified>
  <cp:category/>
</cp:coreProperties>
</file>